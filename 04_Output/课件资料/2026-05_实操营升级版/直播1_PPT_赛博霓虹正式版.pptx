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4" name="Shape 2"/>
          <p:cNvSpPr/>
          <p:nvPr/>
        </p:nvSpPr>
        <p:spPr>
          <a:xfrm>
            <a:off x="6583680" y="3200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A224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3200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5月「LLM Wiki × 六间房」AI 实操营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领养你的 AI 大脑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认知升级 + 三层架构 + 跑通 MVP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9" name="Shape 7"/>
          <p:cNvSpPr/>
          <p:nvPr/>
        </p:nvSpPr>
        <p:spPr>
          <a:xfrm>
            <a:off x="1645920" y="3337560"/>
            <a:ext cx="5852160" cy="1051560"/>
          </a:xfrm>
          <a:prstGeom prst="roundRect">
            <a:avLst>
              <a:gd name="adj" fmla="val 10435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3337560"/>
            <a:ext cx="58521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90分钟结束后，你拥有一个能跑的 MVP
</a:t>
            </a: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三层知识库骨架 · CLAUDE.md v1 · Ingest+Query跑通 · 学习搭子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蓉蓉子 × 石榴🐾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你是不是也踩过这些坑？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548640" y="13258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822960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6" name="Text 4"/>
          <p:cNvSpPr/>
          <p:nvPr/>
        </p:nvSpPr>
        <p:spPr>
          <a:xfrm>
            <a:off x="777240" y="1325880"/>
            <a:ext cx="640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6858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Notion / 飞书 / Obsidian 都试过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没有一个坚持用下来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12848"/>
            <a:ext cx="54864" cy="82296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0" name="Text 8"/>
          <p:cNvSpPr/>
          <p:nvPr/>
        </p:nvSpPr>
        <p:spPr>
          <a:xfrm>
            <a:off x="777240" y="2212848"/>
            <a:ext cx="640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2212848"/>
            <a:ext cx="6858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收藏了几百篇好文章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写东西时还是从零开始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99816"/>
            <a:ext cx="54864" cy="822960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14" name="Text 12"/>
          <p:cNvSpPr/>
          <p:nvPr/>
        </p:nvSpPr>
        <p:spPr>
          <a:xfrm>
            <a:off x="777240" y="3099816"/>
            <a:ext cx="640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3099816"/>
            <a:ext cx="6858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ChatGPT / Claude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回答总像在敷衍——「对，但跟我没关系」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86784"/>
            <a:ext cx="54864" cy="82296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8" name="Text 16"/>
          <p:cNvSpPr/>
          <p:nvPr/>
        </p:nvSpPr>
        <p:spPr>
          <a:xfrm>
            <a:off x="777240" y="3986784"/>
            <a:ext cx="640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986784"/>
            <a:ext cx="6858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试过几次「建知识库」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都半途而废了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141B3D"/>
          </a:solidFill>
          <a:ln w="19050">
            <a:solidFill>
              <a:srgbClr val="00D4FF"/>
            </a:solidFill>
            <a:prstDash val="solid"/>
          </a:ln>
          <a:effectLst>
            <a:outerShdw blurRad="50800" dist="50800" dir="16200000" algn="bl" rotWithShape="0">
              <a:srgbClr val="00D4FF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中了 2 条以上？你不是不努力，你是 </a:t>
            </a:r>
            <a:r>
              <a:rPr lang="en-US" sz="1400" b="1" dirty="0">
                <a:solidFill>
                  <a:srgbClr val="FF2D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用错了范式</a:t>
            </a: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这门课就是来帮你换范式的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每一分钟都对应一个真实痛点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502920" y="1143000"/>
            <a:ext cx="2834640" cy="585216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5" name="Text 3"/>
          <p:cNvSpPr/>
          <p:nvPr/>
        </p:nvSpPr>
        <p:spPr>
          <a:xfrm>
            <a:off x="502920" y="1143000"/>
            <a:ext cx="28346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🔴 你的真实痛点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143000"/>
            <a:ext cx="2926080" cy="585216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7" name="Text 5"/>
          <p:cNvSpPr/>
          <p:nvPr/>
        </p:nvSpPr>
        <p:spPr>
          <a:xfrm>
            <a:off x="3337560" y="1143000"/>
            <a:ext cx="29260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🟢 这堂课给你的解法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143000"/>
            <a:ext cx="2651760" cy="585216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9" name="Text 7"/>
          <p:cNvSpPr/>
          <p:nvPr/>
        </p:nvSpPr>
        <p:spPr>
          <a:xfrm>
            <a:off x="6172200" y="1143000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✨ 上完之后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28216"/>
            <a:ext cx="283464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28216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知识散落各处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找不到、用不上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728216"/>
            <a:ext cx="292608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728216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三层目录结构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(Raw→Wiki→Schema)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728216"/>
            <a:ext cx="265176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728216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所有素材有去处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AI帮你归位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313432"/>
            <a:ext cx="283464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13432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写的东西不像你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没有灵魂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313432"/>
            <a:ext cx="292608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313432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CLAUDE.md = 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你和 AI 的「风格契约」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2313432"/>
            <a:ext cx="265176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13432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输出带着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你的语气和味道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898648"/>
            <a:ext cx="283464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98648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不知道该喂什么给 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2898648"/>
            <a:ext cx="292608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898648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六间房框架 =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「装什么」的导航图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2898648"/>
            <a:ext cx="265176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898648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每条素材自动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找到自己的房间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483864"/>
            <a:ext cx="283464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483864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搭了知识库但 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还是答非所问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3483864"/>
            <a:ext cx="292608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483864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Wiki 范式 =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摄入时编译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3483864"/>
            <a:ext cx="265176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483864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一次喂养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持续复利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069080"/>
            <a:ext cx="283464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069080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怕学不会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怕搭了又废掉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37560" y="4069080"/>
            <a:ext cx="292608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069080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直播现场同步操作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搭子互助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4069080"/>
            <a:ext cx="2651760" cy="585216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069080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当晚就跑通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Ingest + Query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654296"/>
            <a:ext cx="283464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654296"/>
            <a:ext cx="26517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一个人坚持不下来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37560" y="4654296"/>
            <a:ext cx="292608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4654296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搭子配对机制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(详见后文)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72200" y="4654296"/>
            <a:ext cx="2651760" cy="585216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654296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每周互打卡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有人陪你走完全程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分钟结束后，你拥有的是——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406908" y="1234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245"/>
          </a:solidFill>
          <a:ln w="1016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6908" y="134416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4068" y="1856232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三层目录已搭建好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4068" y="219456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的知识库骨架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234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245"/>
          </a:solidFill>
          <a:ln w="1016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8980" y="134416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06140" y="1856232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一份 CLAUDE.md v1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6140" y="219456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你和 AI 的契约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31052" y="1234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245"/>
          </a:solidFill>
          <a:ln w="1016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31052" y="134416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8212" y="1856232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第一张手写信息卡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8212" y="219456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「我是谁」地基卡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245"/>
          </a:solidFill>
          <a:ln w="1016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6908" y="299008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4068" y="3502152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第一次跑通 Ingest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" y="384048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原始素材 → AI 整理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898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245"/>
          </a:solidFill>
          <a:ln w="1016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68980" y="299008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06140" y="3502152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第一次跑通 Query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06140" y="384048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你提问 → AI 回答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31052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245"/>
          </a:solidFill>
          <a:ln w="1016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31052" y="299008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68212" y="3502152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一个学习搭子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8212" y="3840480"/>
            <a:ext cx="2331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陪你走 21 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为什么以前的知识库搭不起来？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457200" y="123444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A2245"/>
          </a:solidFill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438912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6" name="Shape 4"/>
          <p:cNvSpPr/>
          <p:nvPr/>
        </p:nvSpPr>
        <p:spPr>
          <a:xfrm>
            <a:off x="457200" y="1563624"/>
            <a:ext cx="3931920" cy="164592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❌ 旧范式：资料堆积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35661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收藏了一堆文章 PDF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分了文件夹但从来不看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 每次临时去翻找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知识之间没有关联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A2245"/>
          </a:solidFill>
        </p:spPr>
      </p:sp>
      <p:sp>
        <p:nvSpPr>
          <p:cNvPr id="10" name="Shape 8"/>
          <p:cNvSpPr/>
          <p:nvPr/>
        </p:nvSpPr>
        <p:spPr>
          <a:xfrm>
            <a:off x="4754880" y="1234440"/>
            <a:ext cx="3931920" cy="438912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1" name="Shape 9"/>
          <p:cNvSpPr/>
          <p:nvPr/>
        </p:nvSpPr>
        <p:spPr>
          <a:xfrm>
            <a:off x="4754880" y="1563624"/>
            <a:ext cx="3931920" cy="164592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12" name="Text 10"/>
          <p:cNvSpPr/>
          <p:nvPr/>
        </p:nvSpPr>
        <p:spPr>
          <a:xfrm>
            <a:off x="4754880" y="1234440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新范式：让 AI 读懂你的大脑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5661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素材摄入时就被 AI 编译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知识之间自动建立关联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 持续维护你的 Wiki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一次喂养，复利增长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01168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141B3D"/>
          </a:solidFill>
          <a:ln w="19050">
            <a:solidFill>
              <a:srgbClr val="A855F7"/>
            </a:solidFill>
            <a:prstDash val="solid"/>
          </a:ln>
          <a:effectLst>
            <a:outerShdw blurRad="50800" dist="50800" dir="16200000" algn="bl" rotWithShape="0">
              <a:srgbClr val="A855F7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547872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前研究负责人 Andrej Karpathy 提出 LLM Wiki 范式：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913632"/>
            <a:ext cx="77724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 RAG 是</a:t>
            </a:r>
            <a:r>
              <a:rPr lang="en-US" sz="1400" i="1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「每次让 AI 临时去图书馆翻书」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</a:t>
            </a: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Wiki 是</a:t>
            </a:r>
            <a:r>
              <a:rPr lang="en-US" sz="1400" i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「你雇了一个私人图书管理员，他每天帮你整理书架」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三层架构 × 六间房联动（核心认知）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1207008"/>
          </a:xfrm>
          <a:prstGeom prst="roundRect">
            <a:avLst>
              <a:gd name="adj" fmla="val 7576"/>
            </a:avLst>
          </a:prstGeom>
          <a:solidFill>
            <a:srgbClr val="1A2245"/>
          </a:solidFill>
          <a:ln w="19050">
            <a:solidFill>
              <a:srgbClr val="A855F7"/>
            </a:solidFill>
            <a:prstDash val="solid"/>
          </a:ln>
          <a:effectLst>
            <a:outerShdw blurRad="50800" dist="50800" dir="16200000" algn="bl" rotWithShape="0">
              <a:srgbClr val="A855F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73152" cy="1207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6" name="Text 4"/>
          <p:cNvSpPr/>
          <p:nvPr/>
        </p:nvSpPr>
        <p:spPr>
          <a:xfrm>
            <a:off x="731520" y="1216152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📐  Schema 层（规则/契约）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234440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你和 AI 共同维护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75895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CLAUDE.md · 写作风格 · 边界 · 母题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告诉 AI 「怎么像你」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8046720" cy="1207008"/>
          </a:xfrm>
          <a:prstGeom prst="rect">
            <a:avLst/>
          </a:prstGeom>
          <a:solidFill>
            <a:srgbClr val="1A2245"/>
          </a:solidFill>
          <a:ln w="25400">
            <a:solidFill>
              <a:srgbClr val="00D4FF"/>
            </a:solidFill>
            <a:prstDash val="solid"/>
          </a:ln>
          <a:effectLst>
            <a:outerShdw blurRad="50800" dist="50800" dir="16200000" algn="bl" rotWithShape="0">
              <a:srgbClr val="00D4F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59736"/>
            <a:ext cx="73152" cy="120700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1" name="Text 9"/>
          <p:cNvSpPr/>
          <p:nvPr/>
        </p:nvSpPr>
        <p:spPr>
          <a:xfrm>
            <a:off x="731520" y="2532888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 Wiki 层（六间房）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551176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AI 写、你读 + 纠错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916936"/>
            <a:ext cx="75895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01我是谁 02我会什么 03我说过什么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04我卖什么 05我面对谁 06我怎么想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AI 自动维护的信息卡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8046720" cy="1207008"/>
          </a:xfrm>
          <a:prstGeom prst="roundRect">
            <a:avLst>
              <a:gd name="adj" fmla="val 7576"/>
            </a:avLst>
          </a:prstGeom>
          <a:solidFill>
            <a:srgbClr val="1A2245"/>
          </a:solidFill>
          <a:ln w="19050">
            <a:solidFill>
              <a:srgbClr val="34D399"/>
            </a:solidFill>
            <a:prstDash val="solid"/>
          </a:ln>
          <a:effectLst>
            <a:outerShdw blurRad="50800" dist="50800" dir="16200000" algn="bl" rotWithShape="0">
              <a:srgbClr val="34D39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76472"/>
            <a:ext cx="73152" cy="1207008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6" name="Text 14"/>
          <p:cNvSpPr/>
          <p:nvPr/>
        </p:nvSpPr>
        <p:spPr>
          <a:xfrm>
            <a:off x="731520" y="3849624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📥  Raw Sources 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3867912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你写、AI 只读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233672"/>
            <a:ext cx="75895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文章 / 对话记录 / 灵感碎片 / 课件 PDF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你的原始档案，不可变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8046720" cy="420624"/>
          </a:xfrm>
          <a:prstGeom prst="roundRect">
            <a:avLst>
              <a:gd name="adj" fmla="val 17391"/>
            </a:avLst>
          </a:prstGeom>
          <a:solidFill>
            <a:srgbClr val="141B3D"/>
          </a:solidFill>
        </p:spPr>
      </p:sp>
      <p:sp>
        <p:nvSpPr>
          <p:cNvPr id="20" name="Text 18"/>
          <p:cNvSpPr/>
          <p:nvPr/>
        </p:nvSpPr>
        <p:spPr>
          <a:xfrm>
            <a:off x="548640" y="4572000"/>
            <a:ext cx="80467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2D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金句：「六间房解决「装什么」，LLM Wiki 解决「怎么活」。CLAUDE.md 是契约。」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vs LLM Wiki —— 一张表看懂区别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502920" y="1143000"/>
            <a:ext cx="2011680" cy="65836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5" name="Text 3"/>
          <p:cNvSpPr/>
          <p:nvPr/>
        </p:nvSpPr>
        <p:spPr>
          <a:xfrm>
            <a:off x="502920" y="1143000"/>
            <a:ext cx="2011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143000"/>
            <a:ext cx="3108960" cy="658368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7" name="Text 5"/>
          <p:cNvSpPr/>
          <p:nvPr/>
        </p:nvSpPr>
        <p:spPr>
          <a:xfrm>
            <a:off x="2514600" y="1143000"/>
            <a:ext cx="3108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 RAG（你现在的用法）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23560" y="1143000"/>
            <a:ext cx="3108960" cy="658368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9" name="Text 7"/>
          <p:cNvSpPr/>
          <p:nvPr/>
        </p:nvSpPr>
        <p:spPr>
          <a:xfrm>
            <a:off x="5623560" y="1143000"/>
            <a:ext cx="3108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Wiki（这堂课教的）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01368"/>
            <a:ext cx="201168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01368"/>
            <a:ext cx="17922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知识处理时机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1801368"/>
            <a:ext cx="310896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801368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查询时处理（每次重复算）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801368"/>
            <a:ext cx="310896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1801368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摄入时处理（一次性编译）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459736"/>
            <a:ext cx="2011680" cy="658368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459736"/>
            <a:ext cx="17922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交叉引用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14600" y="2459736"/>
            <a:ext cx="3108960" cy="658368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2459736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临时发现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2459736"/>
            <a:ext cx="3108960" cy="658368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3288" y="2459736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预先构建并持续维护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118104"/>
            <a:ext cx="201168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118104"/>
            <a:ext cx="17922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矛盾检测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14600" y="3118104"/>
            <a:ext cx="310896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3118104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容易被忽略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23560" y="3118104"/>
            <a:ext cx="310896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33288" y="3118104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摄入时主动标记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776472"/>
            <a:ext cx="2011680" cy="658368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776472"/>
            <a:ext cx="17922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知识积累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14600" y="3776472"/>
            <a:ext cx="3108960" cy="658368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3776472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无——每次从头开始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3776472"/>
            <a:ext cx="3108960" cy="658368"/>
          </a:xfrm>
          <a:prstGeom prst="rect">
            <a:avLst/>
          </a:prstGeom>
          <a:solidFill>
            <a:srgbClr val="141B3D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33288" y="3776472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复利增长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434840"/>
            <a:ext cx="201168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434840"/>
            <a:ext cx="17922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一句话类比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14600" y="4434840"/>
            <a:ext cx="310896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4434840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每次去图书馆翻书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23560" y="4434840"/>
            <a:ext cx="3108960" cy="658368"/>
          </a:xfrm>
          <a:prstGeom prst="rect">
            <a:avLst/>
          </a:prstGeom>
          <a:solidFill>
            <a:srgbClr val="1A2245"/>
          </a:solidFill>
          <a:ln w="6350">
            <a:solidFill>
              <a:srgbClr val="141B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33288" y="4434840"/>
            <a:ext cx="288950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有一个私人图书管理员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直播现场我们具体做什么？（90-120 min）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283464" y="1143000"/>
            <a:ext cx="1627632" cy="3063240"/>
          </a:xfrm>
          <a:prstGeom prst="roundRect">
            <a:avLst>
              <a:gd name="adj" fmla="val 5618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3464" y="1143000"/>
            <a:ext cx="1627632" cy="4023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6" name="Shape 4"/>
          <p:cNvSpPr/>
          <p:nvPr/>
        </p:nvSpPr>
        <p:spPr>
          <a:xfrm>
            <a:off x="283464" y="1490472"/>
            <a:ext cx="1627632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7" name="Shape 5"/>
          <p:cNvSpPr/>
          <p:nvPr/>
        </p:nvSpPr>
        <p:spPr>
          <a:xfrm>
            <a:off x="731520" y="165506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</p:spPr>
      </p:sp>
      <p:sp>
        <p:nvSpPr>
          <p:cNvPr id="8" name="Text 6"/>
          <p:cNvSpPr/>
          <p:nvPr/>
        </p:nvSpPr>
        <p:spPr>
          <a:xfrm>
            <a:off x="731520" y="1655064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" y="201168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 开场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" y="2423160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主播介绍 + 学员破冰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" y="2990088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21天愿景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20824" y="1143000"/>
            <a:ext cx="1627632" cy="3063240"/>
          </a:xfrm>
          <a:prstGeom prst="roundRect">
            <a:avLst>
              <a:gd name="adj" fmla="val 5618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20824" y="1143000"/>
            <a:ext cx="1627632" cy="402336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14" name="Shape 12"/>
          <p:cNvSpPr/>
          <p:nvPr/>
        </p:nvSpPr>
        <p:spPr>
          <a:xfrm>
            <a:off x="2020824" y="1490472"/>
            <a:ext cx="1627632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15" name="Shape 13"/>
          <p:cNvSpPr/>
          <p:nvPr/>
        </p:nvSpPr>
        <p:spPr>
          <a:xfrm>
            <a:off x="2468880" y="165506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FF2D95"/>
          </a:solidFill>
        </p:spPr>
      </p:sp>
      <p:sp>
        <p:nvSpPr>
          <p:cNvPr id="16" name="Text 14"/>
          <p:cNvSpPr/>
          <p:nvPr/>
        </p:nvSpPr>
        <p:spPr>
          <a:xfrm>
            <a:off x="2468880" y="1655064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3976" y="201168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D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1 认知升级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12264" y="2423160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痛点共鸣 + Karpathy LLM Wiki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12264" y="2990088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三层架构 × 六间房联动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12264" y="3557016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三个常见误区避坑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58184" y="1143000"/>
            <a:ext cx="1627632" cy="3063240"/>
          </a:xfrm>
          <a:prstGeom prst="roundRect">
            <a:avLst>
              <a:gd name="adj" fmla="val 5618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1143000"/>
            <a:ext cx="1627632" cy="40233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3" name="Shape 21"/>
          <p:cNvSpPr/>
          <p:nvPr/>
        </p:nvSpPr>
        <p:spPr>
          <a:xfrm>
            <a:off x="3758184" y="1490472"/>
            <a:ext cx="1627632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24" name="Shape 22"/>
          <p:cNvSpPr/>
          <p:nvPr/>
        </p:nvSpPr>
        <p:spPr>
          <a:xfrm>
            <a:off x="4206240" y="165506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D4FF"/>
          </a:solidFill>
        </p:spPr>
      </p:sp>
      <p:sp>
        <p:nvSpPr>
          <p:cNvPr id="25" name="Text 23"/>
          <p:cNvSpPr/>
          <p:nvPr/>
        </p:nvSpPr>
        <p:spPr>
          <a:xfrm>
            <a:off x="4206240" y="1655064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31336" y="201168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2 现场搭建 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9624" y="2423160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建三层目录（屏幕共享带做）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9624" y="2990088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CLAUDE.md 初版（大脑芯片）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9624" y="3557016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手写vsAI分工法则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95544" y="1143000"/>
            <a:ext cx="1627632" cy="3063240"/>
          </a:xfrm>
          <a:prstGeom prst="roundRect">
            <a:avLst>
              <a:gd name="adj" fmla="val 5618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95544" y="1143000"/>
            <a:ext cx="1627632" cy="402336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32" name="Shape 30"/>
          <p:cNvSpPr/>
          <p:nvPr/>
        </p:nvSpPr>
        <p:spPr>
          <a:xfrm>
            <a:off x="5495544" y="1490472"/>
            <a:ext cx="1627632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33" name="Shape 31"/>
          <p:cNvSpPr/>
          <p:nvPr/>
        </p:nvSpPr>
        <p:spPr>
          <a:xfrm>
            <a:off x="5943600" y="165506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34D399"/>
          </a:solidFill>
        </p:spPr>
      </p:sp>
      <p:sp>
        <p:nvSpPr>
          <p:cNvPr id="34" name="Text 32"/>
          <p:cNvSpPr/>
          <p:nvPr/>
        </p:nvSpPr>
        <p:spPr>
          <a:xfrm>
            <a:off x="5943600" y="1655064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68696" y="201168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3 跑通 MVP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86984" y="2423160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手写01_我是谁 信息卡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86984" y="2990088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第一次 Ingest + Query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86984" y="3557016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 AI 真的懂你了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32904" y="1143000"/>
            <a:ext cx="1627632" cy="3063240"/>
          </a:xfrm>
          <a:prstGeom prst="roundRect">
            <a:avLst>
              <a:gd name="adj" fmla="val 5618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32904" y="1143000"/>
            <a:ext cx="1627632" cy="402336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41" name="Shape 39"/>
          <p:cNvSpPr/>
          <p:nvPr/>
        </p:nvSpPr>
        <p:spPr>
          <a:xfrm>
            <a:off x="7232904" y="1490472"/>
            <a:ext cx="1627632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42" name="Shape 40"/>
          <p:cNvSpPr/>
          <p:nvPr/>
        </p:nvSpPr>
        <p:spPr>
          <a:xfrm>
            <a:off x="7680960" y="1655064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A855F7"/>
          </a:solidFill>
        </p:spPr>
      </p:sp>
      <p:sp>
        <p:nvSpPr>
          <p:cNvPr id="43" name="Text 41"/>
          <p:cNvSpPr/>
          <p:nvPr/>
        </p:nvSpPr>
        <p:spPr>
          <a:xfrm>
            <a:off x="7680960" y="1655064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min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06056" y="2011680"/>
            <a:ext cx="1481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4 Q&amp;A+搭子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24344" y="2423160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Day1-7 任务清单发布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24344" y="2990088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搭子配对名单公布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24344" y="3557016"/>
            <a:ext cx="1444752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高频Q&amp;A解答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屏幕共享同步实操 → 当晚就有能跑的 MVP 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搭子组合机制 —— 为什么需要搭子？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411480" y="114300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A2245"/>
          </a:solidFill>
        </p:spPr>
      </p:sp>
      <p:sp>
        <p:nvSpPr>
          <p:cNvPr id="5" name="Text 3"/>
          <p:cNvSpPr/>
          <p:nvPr/>
        </p:nvSpPr>
        <p:spPr>
          <a:xfrm>
            <a:off x="411480" y="114300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❌ 一个人的路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1   🎉  兴奋搭建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3   😵  遇到卡点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7   😴  「明天再说」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52344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14   🪦  废弃文件夹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A224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4300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有搭子的路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1   🎉  一起搭建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3   🤝  互相解决卡点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35915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7   ⏰  搭子催你打卡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752344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Day 14   🚀  两人都有 MVP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1920240"/>
            <a:ext cx="822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2900" y="34290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A2245"/>
          </a:solidFill>
        </p:spPr>
      </p:sp>
      <p:sp>
        <p:nvSpPr>
          <p:cNvPr id="18" name="Text 16"/>
          <p:cNvSpPr/>
          <p:nvPr/>
        </p:nvSpPr>
        <p:spPr>
          <a:xfrm>
            <a:off x="342900" y="3502152"/>
            <a:ext cx="2697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怎么配？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" y="388620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强弱混搭（技术+小白互补）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" y="420624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2-3人一组，保持高效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" y="452628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背景多元，碰撞灵感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3260" y="34290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A2245"/>
          </a:solidFill>
        </p:spPr>
      </p:sp>
      <p:sp>
        <p:nvSpPr>
          <p:cNvPr id="23" name="Text 21"/>
          <p:cNvSpPr/>
          <p:nvPr/>
        </p:nvSpPr>
        <p:spPr>
          <a:xfrm>
            <a:off x="3223260" y="3502152"/>
            <a:ext cx="2697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D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做什么？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0420" y="388620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互打卡 ≥ 2次/周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0420" y="420624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先问搭子再问主群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0420" y="452628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每周互查作业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3620" y="34290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A2245"/>
          </a:solidFill>
        </p:spPr>
      </p:sp>
      <p:sp>
        <p:nvSpPr>
          <p:cNvPr id="28" name="Text 26"/>
          <p:cNvSpPr/>
          <p:nvPr/>
        </p:nvSpPr>
        <p:spPr>
          <a:xfrm>
            <a:off x="6103620" y="3502152"/>
            <a:ext cx="2697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数据说话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0780" y="388620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有搭子完成率 89%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40780" y="420624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没有搭子 41%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40780" y="4526280"/>
            <a:ext cx="2423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差了不止一倍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1 · Day 1-7 · 打地基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274320" y="1097280"/>
            <a:ext cx="1609344" cy="3291840"/>
          </a:xfrm>
          <a:prstGeom prst="roundRect">
            <a:avLst>
              <a:gd name="adj" fmla="val 5682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609344" cy="512064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6" name="Shape 4"/>
          <p:cNvSpPr/>
          <p:nvPr/>
        </p:nvSpPr>
        <p:spPr>
          <a:xfrm>
            <a:off x="274320" y="1536192"/>
            <a:ext cx="1609344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7" name="Text 5"/>
          <p:cNvSpPr/>
          <p:nvPr/>
        </p:nvSpPr>
        <p:spPr>
          <a:xfrm>
            <a:off x="274320" y="1097280"/>
            <a:ext cx="160934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(直播当天)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✋ 三层目录建好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✋ CLAUDE.md 初版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✋ 手写 01_我是谁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255264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Ingest ×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767328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Query ×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20824" y="1097280"/>
            <a:ext cx="1609344" cy="3291840"/>
          </a:xfrm>
          <a:prstGeom prst="roundRect">
            <a:avLst>
              <a:gd name="adj" fmla="val 5682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0824" y="1097280"/>
            <a:ext cx="1609344" cy="5120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5" name="Shape 13"/>
          <p:cNvSpPr/>
          <p:nvPr/>
        </p:nvSpPr>
        <p:spPr>
          <a:xfrm>
            <a:off x="2020824" y="1536192"/>
            <a:ext cx="1609344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16" name="Text 14"/>
          <p:cNvSpPr/>
          <p:nvPr/>
        </p:nvSpPr>
        <p:spPr>
          <a:xfrm>
            <a:off x="2020824" y="1097280"/>
            <a:ext cx="160934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2-3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12264" y="1719072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方法论文章 → raw/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12264" y="2231136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AI提炼 ≥2张方法论卡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67328" y="1097280"/>
            <a:ext cx="1609344" cy="3291840"/>
          </a:xfrm>
          <a:prstGeom prst="roundRect">
            <a:avLst>
              <a:gd name="adj" fmla="val 5682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67328" y="1097280"/>
            <a:ext cx="1609344" cy="512064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1" name="Shape 19"/>
          <p:cNvSpPr/>
          <p:nvPr/>
        </p:nvSpPr>
        <p:spPr>
          <a:xfrm>
            <a:off x="3767328" y="1536192"/>
            <a:ext cx="1609344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22" name="Text 20"/>
          <p:cNvSpPr/>
          <p:nvPr/>
        </p:nvSpPr>
        <p:spPr>
          <a:xfrm>
            <a:off x="3767328" y="1097280"/>
            <a:ext cx="160934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4-5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58768" y="1719072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公众号 → raw/ → 金句库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58768" y="2231136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咨询记录 → 用户痛点卡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13832" y="1097280"/>
            <a:ext cx="1609344" cy="3291840"/>
          </a:xfrm>
          <a:prstGeom prst="roundRect">
            <a:avLst>
              <a:gd name="adj" fmla="val 5682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13832" y="1097280"/>
            <a:ext cx="1609344" cy="512064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27" name="Shape 25"/>
          <p:cNvSpPr/>
          <p:nvPr/>
        </p:nvSpPr>
        <p:spPr>
          <a:xfrm>
            <a:off x="5513832" y="1536192"/>
            <a:ext cx="1609344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28" name="Text 26"/>
          <p:cNvSpPr/>
          <p:nvPr/>
        </p:nvSpPr>
        <p:spPr>
          <a:xfrm>
            <a:off x="5513832" y="1097280"/>
            <a:ext cx="160934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05272" y="1719072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✋ 手写核心价值观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05272" y="2231136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Query 测试自我介绍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60336" y="1097280"/>
            <a:ext cx="1609344" cy="3291840"/>
          </a:xfrm>
          <a:prstGeom prst="roundRect">
            <a:avLst>
              <a:gd name="adj" fmla="val 5682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60336" y="1097280"/>
            <a:ext cx="1609344" cy="512064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33" name="Shape 31"/>
          <p:cNvSpPr/>
          <p:nvPr/>
        </p:nvSpPr>
        <p:spPr>
          <a:xfrm>
            <a:off x="7260336" y="1536192"/>
            <a:ext cx="1609344" cy="109728"/>
          </a:xfrm>
          <a:prstGeom prst="rect">
            <a:avLst/>
          </a:prstGeom>
          <a:solidFill>
            <a:srgbClr val="1A2245"/>
          </a:solidFill>
        </p:spPr>
      </p:sp>
      <p:sp>
        <p:nvSpPr>
          <p:cNvPr id="34" name="Text 32"/>
          <p:cNvSpPr/>
          <p:nvPr/>
        </p:nvSpPr>
        <p:spPr>
          <a:xfrm>
            <a:off x="7260336" y="1097280"/>
            <a:ext cx="160934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里程碑验收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51776" y="1719072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5间房各≥1张卡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51776" y="2231136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🤖 Lint 全局体检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51776" y="2743200"/>
            <a:ext cx="1426464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✋ CLAUDE.md → v2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55371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141B3D"/>
          </a:solidFill>
        </p:spPr>
      </p:sp>
      <p:sp>
        <p:nvSpPr>
          <p:cNvPr id="39" name="Text 37"/>
          <p:cNvSpPr/>
          <p:nvPr/>
        </p:nvSpPr>
        <p:spPr>
          <a:xfrm>
            <a:off x="457200" y="455371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分工原则：AI 帮你写 80% 的卡，你只写「非你不可」的 20%（约3张地基卡）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高频 Q&amp;A 预备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2286000" cy="411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A2245"/>
          </a:solidFill>
        </p:spPr>
      </p:sp>
      <p:sp>
        <p:nvSpPr>
          <p:cNvPr id="5" name="Shape 3"/>
          <p:cNvSpPr/>
          <p:nvPr/>
        </p:nvSpPr>
        <p:spPr>
          <a:xfrm>
            <a:off x="566928" y="1280160"/>
            <a:ext cx="329184" cy="329184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6" name="Text 4"/>
          <p:cNvSpPr/>
          <p:nvPr/>
        </p:nvSpPr>
        <p:spPr>
          <a:xfrm>
            <a:off x="566928" y="12801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9264" y="1252728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Obsidian 客户端打不开？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329184" cy="329184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9" name="Text 7"/>
          <p:cNvSpPr/>
          <p:nvPr/>
        </p:nvSpPr>
        <p:spPr>
          <a:xfrm>
            <a:off x="566928" y="169164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" y="1664208"/>
            <a:ext cx="3337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换网页版，更轻量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A2245"/>
          </a:solidFill>
        </p:spPr>
      </p:sp>
      <p:sp>
        <p:nvSpPr>
          <p:cNvPr id="12" name="Shape 10"/>
          <p:cNvSpPr/>
          <p:nvPr/>
        </p:nvSpPr>
        <p:spPr>
          <a:xfrm>
            <a:off x="4818888" y="1280160"/>
            <a:ext cx="329184" cy="329184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13" name="Text 11"/>
          <p:cNvSpPr/>
          <p:nvPr/>
        </p:nvSpPr>
        <p:spPr>
          <a:xfrm>
            <a:off x="4818888" y="12801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21224" y="1252728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CLAUDE.md 写不出来？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18888" y="1691640"/>
            <a:ext cx="329184" cy="329184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16" name="Text 14"/>
          <p:cNvSpPr/>
          <p:nvPr/>
        </p:nvSpPr>
        <p:spPr>
          <a:xfrm>
            <a:off x="4818888" y="169164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21224" y="1664208"/>
            <a:ext cx="3337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先用模板原文，Schema 是迭代出来的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359152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A2245"/>
          </a:solidFill>
        </p:spPr>
      </p:sp>
      <p:sp>
        <p:nvSpPr>
          <p:cNvPr id="19" name="Shape 17"/>
          <p:cNvSpPr/>
          <p:nvPr/>
        </p:nvSpPr>
        <p:spPr>
          <a:xfrm>
            <a:off x="566928" y="2496312"/>
            <a:ext cx="329184" cy="329184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20" name="Text 18"/>
          <p:cNvSpPr/>
          <p:nvPr/>
        </p:nvSpPr>
        <p:spPr>
          <a:xfrm>
            <a:off x="566928" y="249631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" y="2468880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raw/ 能放 PDF 吗？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2907792"/>
            <a:ext cx="329184" cy="329184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3" name="Text 21"/>
          <p:cNvSpPr/>
          <p:nvPr/>
        </p:nvSpPr>
        <p:spPr>
          <a:xfrm>
            <a:off x="566928" y="29077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" y="2880360"/>
            <a:ext cx="3337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能，但建议先转 Markdown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2359152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A2245"/>
          </a:solidFill>
        </p:spPr>
      </p:sp>
      <p:sp>
        <p:nvSpPr>
          <p:cNvPr id="26" name="Shape 24"/>
          <p:cNvSpPr/>
          <p:nvPr/>
        </p:nvSpPr>
        <p:spPr>
          <a:xfrm>
            <a:off x="4818888" y="2496312"/>
            <a:ext cx="329184" cy="329184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27" name="Text 25"/>
          <p:cNvSpPr/>
          <p:nvPr/>
        </p:nvSpPr>
        <p:spPr>
          <a:xfrm>
            <a:off x="4818888" y="249631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21224" y="2468880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04_我卖什么必须填吗？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18888" y="2907792"/>
            <a:ext cx="329184" cy="329184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30" name="Text 28"/>
          <p:cNvSpPr/>
          <p:nvPr/>
        </p:nvSpPr>
        <p:spPr>
          <a:xfrm>
            <a:off x="4818888" y="29077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21224" y="2880360"/>
            <a:ext cx="3337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不必，没产品的先空着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575304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A2245"/>
          </a:solidFill>
        </p:spPr>
      </p:sp>
      <p:sp>
        <p:nvSpPr>
          <p:cNvPr id="33" name="Shape 31"/>
          <p:cNvSpPr/>
          <p:nvPr/>
        </p:nvSpPr>
        <p:spPr>
          <a:xfrm>
            <a:off x="566928" y="3712464"/>
            <a:ext cx="329184" cy="329184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34" name="Text 32"/>
          <p:cNvSpPr/>
          <p:nvPr/>
        </p:nvSpPr>
        <p:spPr>
          <a:xfrm>
            <a:off x="566928" y="37124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9264" y="3685032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Wiki 写错了能改吗？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4123944"/>
            <a:ext cx="329184" cy="329184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37" name="Text 35"/>
          <p:cNvSpPr/>
          <p:nvPr/>
        </p:nvSpPr>
        <p:spPr>
          <a:xfrm>
            <a:off x="566928" y="412394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9264" y="4096512"/>
            <a:ext cx="3337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改，不要手动改 wiki/ 目录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09160" y="3575304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A2245"/>
          </a:solidFill>
        </p:spPr>
      </p:sp>
      <p:sp>
        <p:nvSpPr>
          <p:cNvPr id="40" name="Shape 38"/>
          <p:cNvSpPr/>
          <p:nvPr/>
        </p:nvSpPr>
        <p:spPr>
          <a:xfrm>
            <a:off x="4818888" y="3712464"/>
            <a:ext cx="329184" cy="329184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41" name="Text 39"/>
          <p:cNvSpPr/>
          <p:nvPr/>
        </p:nvSpPr>
        <p:spPr>
          <a:xfrm>
            <a:off x="4818888" y="37124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21224" y="3685032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技术小白能跟得上吗？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18888" y="4123944"/>
            <a:ext cx="329184" cy="329184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44" name="Text 42"/>
          <p:cNvSpPr/>
          <p:nvPr/>
        </p:nvSpPr>
        <p:spPr>
          <a:xfrm>
            <a:off x="4818888" y="412394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21224" y="4096512"/>
            <a:ext cx="3337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屏幕共享带做 + 搭子互助 + 补救文档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95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effectLst>
            <a:outerShdw blurRad="76200" dist="50800" dir="16200000" algn="bl" rotWithShape="0">
              <a:srgbClr val="FF2D95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今晚见！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带好电脑，我们一起跑通第一个 MVP 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7" name="Shape 5"/>
          <p:cNvSpPr/>
          <p:nvPr/>
        </p:nvSpPr>
        <p:spPr>
          <a:xfrm>
            <a:off x="1645920" y="3383280"/>
            <a:ext cx="5852160" cy="1097280"/>
          </a:xfrm>
          <a:prstGeom prst="roundRect">
            <a:avLst>
              <a:gd name="adj" fmla="val 10000"/>
            </a:avLst>
          </a:prstGeom>
          <a:solidFill>
            <a:srgbClr val="1A2245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383280"/>
            <a:ext cx="58521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⏰ 开营直播：5月XX日（周X）晚 20:00
</a:t>
            </a: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📍 #腾讯会议：XXX-XXX-XXX
</a:t>
            </a:r>
            <a:r>
              <a:rPr lang="en-US" sz="1200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💙 先看完成长手册再来效果更好哦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蓉蓉子 × 石榴🐾  |  5月「LLM Wiki × 六间房」AI 实操营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I0MGU0Yzk1MTZlYjkyMDBjMzRlMjRmMjEyNmU2Nj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2634</Words>
  <Application>WPS 演示</Application>
  <PresentationFormat>On-screen Show (16:9)</PresentationFormat>
  <Paragraphs>420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Apple Color Emoji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直播1 | 领养你的AI大脑</dc:title>
  <dc:creator>蓉蓉子</dc:creator>
  <dc:subject>PptxGenJS Presentation</dc:subject>
  <cp:lastModifiedBy>橙子味的小苹果</cp:lastModifiedBy>
  <cp:revision>2</cp:revision>
  <dcterms:created xsi:type="dcterms:W3CDTF">2026-05-09T06:18:11Z</dcterms:created>
  <dcterms:modified xsi:type="dcterms:W3CDTF">2026-05-09T06:18:11Z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5FDB063A47741743A3D1FE6931839449_42</vt:lpwstr>
  </property>
  <property fmtid="{D5CDD505-2E9C-101B-9397-08002B2CF9AE}" pid="3" name="KSOProductBuildVer">
    <vt:lpwstr>2052-6.9.0.8865</vt:lpwstr>
  </property>
</Properties>
</file>