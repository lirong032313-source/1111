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09092" y="574737"/>
            <a:ext cx="6525816" cy="3994026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49513" y="1010506"/>
            <a:ext cx="2644973" cy="394692"/>
          </a:xfrm>
          <a:prstGeom prst="roundRect">
            <a:avLst/>
          </a:prstGeom>
          <a:solidFill>
            <a:srgbClr val="E5E7E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963" y="1137307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20988" y="1112304"/>
            <a:ext cx="210204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让 AI 真正成为你的内容创作伙伴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744861" y="1690948"/>
            <a:ext cx="5654278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内容场景工作流：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从知识库到全自动生产线</a:t>
            </a:r>
            <a:endParaRPr lang="en-US" sz="3294" dirty="0"/>
          </a:p>
        </p:txBody>
      </p:sp>
      <p:sp>
        <p:nvSpPr>
          <p:cNvPr id="8" name="Text 4"/>
          <p:cNvSpPr/>
          <p:nvPr/>
        </p:nvSpPr>
        <p:spPr>
          <a:xfrm>
            <a:off x="1744861" y="2959633"/>
            <a:ext cx="565427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深度对接知识库，跑通「素材-选题-创作-分发」全流程</a:t>
            </a:r>
            <a:endParaRPr lang="en-US" sz="160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252" y="3968688"/>
            <a:ext cx="112514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96916" y="3945471"/>
            <a:ext cx="530423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[蓉蓉子]</a:t>
            </a:r>
            <a:endParaRPr lang="en-US" sz="94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214" y="3959758"/>
            <a:ext cx="112514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39878" y="3936541"/>
            <a:ext cx="676870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2026.03.10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做内容是为了什么？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892969"/>
            <a:ext cx="871537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从“涨粉变现”到“建立数字资产”的认知跨越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375172"/>
            <a:ext cx="8286750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2938" y="1756470"/>
            <a:ext cx="857250" cy="23753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7" name="Text 4"/>
          <p:cNvSpPr/>
          <p:nvPr/>
        </p:nvSpPr>
        <p:spPr>
          <a:xfrm>
            <a:off x="642938" y="1756470"/>
            <a:ext cx="857250" cy="237530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第一层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1714500" y="1622524"/>
            <a:ext cx="678656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表层目的：涨粉、变现、打造个人品牌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714500" y="1926134"/>
            <a:ext cx="678656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这是大多数人的初衷，但如果只盯着这里，创作会变成极大的意志力消耗。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28625" y="2339578"/>
            <a:ext cx="8286750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2938" y="2720876"/>
            <a:ext cx="857250" cy="23753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2" name="Text 9"/>
          <p:cNvSpPr/>
          <p:nvPr/>
        </p:nvSpPr>
        <p:spPr>
          <a:xfrm>
            <a:off x="642938" y="2720876"/>
            <a:ext cx="857250" cy="237530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第二层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1714500" y="2586930"/>
            <a:ext cx="678656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中层目的：建立信任、展示专业、吸引同频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1714500" y="2890540"/>
            <a:ext cx="678656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内容是你的“数字分身”，帮你完成 24 小时不间断的信任背书与社交筛选。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28625" y="3303984"/>
            <a:ext cx="8286750" cy="857250"/>
          </a:xfrm>
          <a:prstGeom prst="rect">
            <a:avLst/>
          </a:prstGeom>
          <a:solidFill>
            <a:srgbClr val="FFFFFF"/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938" y="3685282"/>
            <a:ext cx="857250" cy="23753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4"/>
          <p:cNvSpPr/>
          <p:nvPr/>
        </p:nvSpPr>
        <p:spPr>
          <a:xfrm>
            <a:off x="642938" y="3685282"/>
            <a:ext cx="857250" cy="237530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第三层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1714500" y="3551337"/>
            <a:ext cx="678656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底层目的：沉淀思考、建立“数字资产”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1714500" y="3854946"/>
            <a:ext cx="678656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让经验可复用、可迭代。每一篇内容都在为你的知识库添砖加瓦，而非一次性消耗品。</a:t>
            </a:r>
            <a:endParaRPr lang="en-US" sz="942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4420195"/>
            <a:ext cx="157163" cy="15716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2944" y="4375547"/>
            <a:ext cx="392191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核心洞察：内容不是写完就扔的“作文”，而是持续增值的</a:t>
            </a:r>
            <a:endParaRPr lang="en-US" sz="1090" dirty="0"/>
          </a:p>
        </p:txBody>
      </p:sp>
      <p:sp>
        <p:nvSpPr>
          <p:cNvPr id="22" name="Text 18"/>
          <p:cNvSpPr/>
          <p:nvPr/>
        </p:nvSpPr>
        <p:spPr>
          <a:xfrm>
            <a:off x="4722019" y="4375547"/>
            <a:ext cx="81438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“数字资产”</a:t>
            </a:r>
            <a:endParaRPr lang="en-US" sz="1090" dirty="0"/>
          </a:p>
        </p:txBody>
      </p:sp>
      <p:sp>
        <p:nvSpPr>
          <p:cNvPr id="23" name="Text 19"/>
          <p:cNvSpPr/>
          <p:nvPr/>
        </p:nvSpPr>
        <p:spPr>
          <a:xfrm>
            <a:off x="5643563" y="4375547"/>
            <a:ext cx="15716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。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认知升级：从“手工作坊”到“内容工厂”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892969"/>
            <a:ext cx="871537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让每一篇文章都在为知识库添砖加瓦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446609"/>
            <a:ext cx="4000500" cy="28575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88616"/>
            <a:ext cx="225028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6559" y="1732359"/>
            <a:ext cx="18002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传统模式：手工作坊</a:t>
            </a:r>
            <a:endParaRPr lang="en-US" sz="1397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270820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216348"/>
            <a:ext cx="157876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找灵感 → 憋大纲 → 硬写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636937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582466"/>
            <a:ext cx="78938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发布 → 遗忘</a:t>
            </a:r>
            <a:endParaRPr lang="en-US" sz="10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003054"/>
            <a:ext cx="114300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2948583"/>
            <a:ext cx="2021681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每次从 0 开始，极度消耗意志力</a:t>
            </a:r>
            <a:endParaRPr lang="en-US" sz="1050" dirty="0"/>
          </a:p>
        </p:txBody>
      </p:sp>
      <p:sp>
        <p:nvSpPr>
          <p:cNvPr id="14" name="Shape 7"/>
          <p:cNvSpPr/>
          <p:nvPr/>
        </p:nvSpPr>
        <p:spPr>
          <a:xfrm>
            <a:off x="714375" y="3386138"/>
            <a:ext cx="3429000" cy="5715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Text 8"/>
          <p:cNvSpPr/>
          <p:nvPr/>
        </p:nvSpPr>
        <p:spPr>
          <a:xfrm>
            <a:off x="928688" y="3529013"/>
            <a:ext cx="3000375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B9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痛点：灵感枯竭，创作低效，资产流失</a:t>
            </a:r>
            <a:endParaRPr lang="en-US" sz="885" dirty="0"/>
          </a:p>
        </p:txBody>
      </p:sp>
      <p:sp>
        <p:nvSpPr>
          <p:cNvPr id="16" name="Shape 9"/>
          <p:cNvSpPr/>
          <p:nvPr/>
        </p:nvSpPr>
        <p:spPr>
          <a:xfrm>
            <a:off x="4714875" y="1446609"/>
            <a:ext cx="4000500" cy="28575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788616"/>
            <a:ext cx="225028" cy="20002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32809" y="1732359"/>
            <a:ext cx="20002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工厂模式：流水线作业</a:t>
            </a:r>
            <a:endParaRPr lang="en-US" sz="1397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270820"/>
            <a:ext cx="114300" cy="1143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200650" y="2216348"/>
            <a:ext cx="136088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素材输入 → 素材加工</a:t>
            </a:r>
            <a:endParaRPr lang="en-US" sz="10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2636937"/>
            <a:ext cx="114300" cy="1143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00650" y="2582466"/>
            <a:ext cx="136088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内容组装 → 多端分发</a:t>
            </a:r>
            <a:endParaRPr lang="en-US" sz="10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3003054"/>
            <a:ext cx="114300" cy="1143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200650" y="2948583"/>
            <a:ext cx="17412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知识资产沉淀，AI 精准调用</a:t>
            </a:r>
            <a:endParaRPr lang="en-US" sz="1050" dirty="0"/>
          </a:p>
        </p:txBody>
      </p:sp>
      <p:sp>
        <p:nvSpPr>
          <p:cNvPr id="25" name="Shape 14"/>
          <p:cNvSpPr/>
          <p:nvPr/>
        </p:nvSpPr>
        <p:spPr>
          <a:xfrm>
            <a:off x="5000625" y="3386138"/>
            <a:ext cx="3429000" cy="571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15"/>
          <p:cNvSpPr/>
          <p:nvPr/>
        </p:nvSpPr>
        <p:spPr>
          <a:xfrm>
            <a:off x="5214938" y="3529013"/>
            <a:ext cx="3000375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核心：设计一套内容生产系统，而非单篇创作</a:t>
            </a:r>
            <a:endParaRPr lang="en-US" sz="885" dirty="0"/>
          </a:p>
        </p:txBody>
      </p:sp>
      <p:sp>
        <p:nvSpPr>
          <p:cNvPr id="27" name="Shape 16"/>
          <p:cNvSpPr/>
          <p:nvPr/>
        </p:nvSpPr>
        <p:spPr>
          <a:xfrm>
            <a:off x="428625" y="4606826"/>
            <a:ext cx="671513" cy="212527"/>
          </a:xfrm>
          <a:prstGeom prst="roundRect">
            <a:avLst/>
          </a:prstGeom>
          <a:solidFill>
            <a:srgbClr val="E5E7EB"/>
          </a:solidFill>
          <a:ln/>
        </p:spPr>
      </p:sp>
      <p:sp>
        <p:nvSpPr>
          <p:cNvPr id="28" name="Text 17"/>
          <p:cNvSpPr/>
          <p:nvPr/>
        </p:nvSpPr>
        <p:spPr>
          <a:xfrm>
            <a:off x="428625" y="4606826"/>
            <a:ext cx="671513" cy="212527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关键洞察</a:t>
            </a:r>
            <a:endParaRPr lang="en-US" sz="784" dirty="0"/>
          </a:p>
        </p:txBody>
      </p:sp>
      <p:sp>
        <p:nvSpPr>
          <p:cNvPr id="29" name="Text 18"/>
          <p:cNvSpPr/>
          <p:nvPr/>
        </p:nvSpPr>
        <p:spPr>
          <a:xfrm>
            <a:off x="1207294" y="4589859"/>
            <a:ext cx="368260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让 AI 成为你的内容创作伙伴，而非简单的“代笔工具”</a:t>
            </a:r>
            <a:endParaRPr lang="en-US" sz="10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内容创作的四层结构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892969"/>
            <a:ext cx="871537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深度对接知识库，实现系统化创作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303734"/>
            <a:ext cx="8286750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7219" y="1625203"/>
            <a:ext cx="321469" cy="321469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7" name="Text 4"/>
          <p:cNvSpPr/>
          <p:nvPr/>
        </p:nvSpPr>
        <p:spPr>
          <a:xfrm>
            <a:off x="607219" y="1625203"/>
            <a:ext cx="3214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071563" y="1564844"/>
            <a:ext cx="532209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选题层：你要写什么？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1071563" y="1847022"/>
            <a:ext cx="532209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用户痛点、热点话题、个人洞察、方法论拆解。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6536531" y="1500188"/>
            <a:ext cx="2000250" cy="571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1" name="Text 8"/>
          <p:cNvSpPr/>
          <p:nvPr/>
        </p:nvSpPr>
        <p:spPr>
          <a:xfrm>
            <a:off x="6643688" y="1660922"/>
            <a:ext cx="1785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知识库调用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6643688" y="1825228"/>
            <a:ext cx="17859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从“我面对谁”+“我会什么”调取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428625" y="2232422"/>
            <a:ext cx="8286750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7219" y="2553891"/>
            <a:ext cx="321469" cy="321469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15" name="Text 12"/>
          <p:cNvSpPr/>
          <p:nvPr/>
        </p:nvSpPr>
        <p:spPr>
          <a:xfrm>
            <a:off x="607219" y="2553891"/>
            <a:ext cx="3214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1071563" y="2493532"/>
            <a:ext cx="532209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结构层：你要怎么写？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1071563" y="2775710"/>
            <a:ext cx="532209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黄金开头（痛点+共鸣+承诺）、中间展开（故事+方法+案例）、结尾收束（总结+行动指南+CTA）。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6536531" y="2428875"/>
            <a:ext cx="2000250" cy="571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9" name="Text 16"/>
          <p:cNvSpPr/>
          <p:nvPr/>
        </p:nvSpPr>
        <p:spPr>
          <a:xfrm>
            <a:off x="6643688" y="2589609"/>
            <a:ext cx="1785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知识库调用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6643688" y="2753916"/>
            <a:ext cx="17859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从“我说过什么”调取结构模板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428625" y="3161109"/>
            <a:ext cx="8286750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7219" y="3482578"/>
            <a:ext cx="321469" cy="321469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3" name="Text 20"/>
          <p:cNvSpPr/>
          <p:nvPr/>
        </p:nvSpPr>
        <p:spPr>
          <a:xfrm>
            <a:off x="607219" y="3482578"/>
            <a:ext cx="3214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1071563" y="3422219"/>
            <a:ext cx="532209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素材层：你用什么写？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1071563" y="3704397"/>
            <a:ext cx="532209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故事、案例、观点、金句、方法论。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6536531" y="3357563"/>
            <a:ext cx="2000250" cy="571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7" name="Text 24"/>
          <p:cNvSpPr/>
          <p:nvPr/>
        </p:nvSpPr>
        <p:spPr>
          <a:xfrm>
            <a:off x="6643688" y="3518297"/>
            <a:ext cx="1785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知识库调用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6643688" y="3682603"/>
            <a:ext cx="17859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从 5 个房间调取</a:t>
            </a:r>
            <a:endParaRPr lang="en-US" sz="683" dirty="0"/>
          </a:p>
        </p:txBody>
      </p:sp>
      <p:sp>
        <p:nvSpPr>
          <p:cNvPr id="29" name="Shape 26"/>
          <p:cNvSpPr/>
          <p:nvPr/>
        </p:nvSpPr>
        <p:spPr>
          <a:xfrm>
            <a:off x="428625" y="4089797"/>
            <a:ext cx="8286750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7219" y="4411266"/>
            <a:ext cx="321469" cy="321469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31" name="Text 28"/>
          <p:cNvSpPr/>
          <p:nvPr/>
        </p:nvSpPr>
        <p:spPr>
          <a:xfrm>
            <a:off x="607219" y="4411266"/>
            <a:ext cx="3214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1071563" y="4350907"/>
            <a:ext cx="532209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表达层：你用什么语气写？</a:t>
            </a:r>
            <a:endParaRPr lang="en-US" sz="1090" dirty="0"/>
          </a:p>
        </p:txBody>
      </p:sp>
      <p:sp>
        <p:nvSpPr>
          <p:cNvPr id="33" name="Text 30"/>
          <p:cNvSpPr/>
          <p:nvPr/>
        </p:nvSpPr>
        <p:spPr>
          <a:xfrm>
            <a:off x="1071563" y="4633085"/>
            <a:ext cx="532209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语气、节奏、情绪、人格。</a:t>
            </a:r>
            <a:endParaRPr lang="en-US" sz="834" dirty="0"/>
          </a:p>
        </p:txBody>
      </p:sp>
      <p:sp>
        <p:nvSpPr>
          <p:cNvPr id="34" name="Shape 31"/>
          <p:cNvSpPr/>
          <p:nvPr/>
        </p:nvSpPr>
        <p:spPr>
          <a:xfrm>
            <a:off x="6536531" y="4286250"/>
            <a:ext cx="2000250" cy="571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5" name="Text 32"/>
          <p:cNvSpPr/>
          <p:nvPr/>
        </p:nvSpPr>
        <p:spPr>
          <a:xfrm>
            <a:off x="6643688" y="4446984"/>
            <a:ext cx="1785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知识库调用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6643688" y="4611291"/>
            <a:ext cx="17859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从“我是谁”+“我怎么想”调取</a:t>
            </a:r>
            <a:endParaRPr lang="en-US" sz="68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自动供稿的底层逻辑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892969"/>
            <a:ext cx="871537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让内容资产在系统中流动，实现高效复用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714375" y="1446609"/>
            <a:ext cx="714375" cy="714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06" y="1660922"/>
            <a:ext cx="214313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2760" y="2303859"/>
            <a:ext cx="837605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产出源内容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285750" y="2598539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完整保存原始产出，如直播、长文、咨询记录。</a:t>
            </a:r>
            <a:endParaRPr lang="en-US" sz="727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094" y="1771650"/>
            <a:ext cx="107156" cy="1714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464594" y="1446609"/>
            <a:ext cx="714375" cy="714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906" y="1660922"/>
            <a:ext cx="285750" cy="285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388691" y="2303859"/>
            <a:ext cx="866180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拆解模块层</a:t>
            </a:r>
            <a:endParaRPr lang="en-US" sz="987" dirty="0"/>
          </a:p>
        </p:txBody>
      </p:sp>
      <p:sp>
        <p:nvSpPr>
          <p:cNvPr id="13" name="Text 7"/>
          <p:cNvSpPr/>
          <p:nvPr/>
        </p:nvSpPr>
        <p:spPr>
          <a:xfrm>
            <a:off x="2035969" y="2598539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从中拆出故事、模型、金句，变成可复用乐高块。</a:t>
            </a:r>
            <a:endParaRPr lang="en-US" sz="727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313" y="1771650"/>
            <a:ext cx="107156" cy="17145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4214813" y="1446609"/>
            <a:ext cx="714375" cy="714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6984" y="1660922"/>
            <a:ext cx="250031" cy="2857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137124" y="2303859"/>
            <a:ext cx="86975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归入母题树</a:t>
            </a:r>
            <a:endParaRPr lang="en-US" sz="987" dirty="0"/>
          </a:p>
        </p:txBody>
      </p:sp>
      <p:sp>
        <p:nvSpPr>
          <p:cNvPr id="18" name="Text 10"/>
          <p:cNvSpPr/>
          <p:nvPr/>
        </p:nvSpPr>
        <p:spPr>
          <a:xfrm>
            <a:off x="3786188" y="2598539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给模块贴上主题标签，归入长期关注的母题主线。</a:t>
            </a:r>
            <a:endParaRPr lang="en-US" sz="727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3531" y="1771650"/>
            <a:ext cx="107156" cy="171450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5965031" y="1446609"/>
            <a:ext cx="714375" cy="714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9344" y="1660922"/>
            <a:ext cx="285750" cy="28575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881092" y="2303859"/>
            <a:ext cx="882253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按场景检索</a:t>
            </a:r>
            <a:endParaRPr lang="en-US" sz="987" dirty="0"/>
          </a:p>
        </p:txBody>
      </p:sp>
      <p:sp>
        <p:nvSpPr>
          <p:cNvPr id="23" name="Text 13"/>
          <p:cNvSpPr/>
          <p:nvPr/>
        </p:nvSpPr>
        <p:spPr>
          <a:xfrm>
            <a:off x="5536406" y="2598539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下次写作时，直接通过“场景+主题”精准调用。</a:t>
            </a:r>
            <a:endParaRPr lang="en-US" sz="727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0" y="1771650"/>
            <a:ext cx="107156" cy="17145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7715250" y="1446609"/>
            <a:ext cx="714375" cy="714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9563" y="1660922"/>
            <a:ext cx="285750" cy="28575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616130" y="2303859"/>
            <a:ext cx="91261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AI 辅助生成</a:t>
            </a:r>
            <a:endParaRPr lang="en-US" sz="987" dirty="0"/>
          </a:p>
        </p:txBody>
      </p:sp>
      <p:sp>
        <p:nvSpPr>
          <p:cNvPr id="28" name="Text 16"/>
          <p:cNvSpPr/>
          <p:nvPr/>
        </p:nvSpPr>
        <p:spPr>
          <a:xfrm>
            <a:off x="7286625" y="2598539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基于已有模块组装新内容，产出新的源内容。</a:t>
            </a:r>
            <a:endParaRPr lang="en-US" sz="727" dirty="0"/>
          </a:p>
        </p:txBody>
      </p:sp>
      <p:sp>
        <p:nvSpPr>
          <p:cNvPr id="29" name="Shape 17"/>
          <p:cNvSpPr/>
          <p:nvPr/>
        </p:nvSpPr>
        <p:spPr>
          <a:xfrm>
            <a:off x="428625" y="3327202"/>
            <a:ext cx="8286750" cy="11430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3780830"/>
            <a:ext cx="535781" cy="428625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1535906" y="3611166"/>
            <a:ext cx="391656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在循环中的核心作用</a:t>
            </a:r>
            <a:endParaRPr lang="en-US" sz="1193" dirty="0"/>
          </a:p>
        </p:txBody>
      </p:sp>
      <p:sp>
        <p:nvSpPr>
          <p:cNvPr id="32" name="Text 19"/>
          <p:cNvSpPr/>
          <p:nvPr/>
        </p:nvSpPr>
        <p:spPr>
          <a:xfrm>
            <a:off x="1535906" y="3950494"/>
            <a:ext cx="391656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“从【母题】+【场景】的交集里，帮我抽取素材并组装 80% 的初稿。”</a:t>
            </a:r>
            <a:endParaRPr lang="en-US" sz="942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5906" y="4255889"/>
            <a:ext cx="142875" cy="11430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1678781" y="4236244"/>
            <a:ext cx="271641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人的价值：负责最后 20% 的「人味校对」与审美决策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系统全景：脏区 → 六间房 → 输出工厂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892969"/>
            <a:ext cx="871537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构建内容生产的物理载体与流转逻辑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446609"/>
            <a:ext cx="2001282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7219" y="1660922"/>
            <a:ext cx="1633882" cy="185738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7" name="Text 4"/>
          <p:cNvSpPr/>
          <p:nvPr/>
        </p:nvSpPr>
        <p:spPr>
          <a:xfrm>
            <a:off x="607219" y="1660922"/>
            <a:ext cx="1633882" cy="185738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素材输入场景</a:t>
            </a:r>
            <a:endParaRPr lang="en-US" sz="683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998464"/>
            <a:ext cx="157163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5819" y="1953816"/>
            <a:ext cx="109120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【脏区】Inbox</a:t>
            </a:r>
            <a:endParaRPr lang="en-US" sz="1090" dirty="0"/>
          </a:p>
        </p:txBody>
      </p:sp>
      <p:sp>
        <p:nvSpPr>
          <p:cNvPr id="10" name="Shape 6"/>
          <p:cNvSpPr/>
          <p:nvPr/>
        </p:nvSpPr>
        <p:spPr>
          <a:xfrm>
            <a:off x="607219" y="2343150"/>
            <a:ext cx="1633882" cy="32146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7219" y="2343150"/>
            <a:ext cx="1633882" cy="321469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灵感/素材缓冲池</a:t>
            </a:r>
            <a:endParaRPr lang="en-US" sz="784" dirty="0"/>
          </a:p>
        </p:txBody>
      </p:sp>
      <p:sp>
        <p:nvSpPr>
          <p:cNvPr id="12" name="Shape 8"/>
          <p:cNvSpPr/>
          <p:nvPr/>
        </p:nvSpPr>
        <p:spPr>
          <a:xfrm>
            <a:off x="607219" y="2878931"/>
            <a:ext cx="1633882" cy="321469"/>
          </a:xfrm>
          <a:prstGeom prst="rect">
            <a:avLst/>
          </a:prstGeom>
          <a:solidFill>
            <a:srgbClr val="FFFBEB"/>
          </a:solidFill>
          <a:ln w="9144">
            <a:solidFill>
              <a:srgbClr val="FDE68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996803"/>
            <a:ext cx="114300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8675" y="2977158"/>
            <a:ext cx="117336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每周清仓一次，迁入净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2002036" y="2977158"/>
            <a:ext cx="11430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区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2562569" y="2875359"/>
            <a:ext cx="44827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整理/加工</a:t>
            </a:r>
            <a:endParaRPr lang="en-US" sz="683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267" y="3103959"/>
            <a:ext cx="142875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153714" y="1446609"/>
            <a:ext cx="2822284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336382" y="1660922"/>
            <a:ext cx="2456948" cy="185738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20" name="Text 14"/>
          <p:cNvSpPr/>
          <p:nvPr/>
        </p:nvSpPr>
        <p:spPr>
          <a:xfrm>
            <a:off x="3336382" y="1660922"/>
            <a:ext cx="2456948" cy="185738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知识资产沉淀场景</a:t>
            </a:r>
            <a:endParaRPr lang="en-US" sz="683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6382" y="1998464"/>
            <a:ext cx="196453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04273" y="1953816"/>
            <a:ext cx="110013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【净区】六间房</a:t>
            </a:r>
            <a:endParaRPr lang="en-US" sz="1090" dirty="0"/>
          </a:p>
        </p:txBody>
      </p:sp>
      <p:sp>
        <p:nvSpPr>
          <p:cNvPr id="23" name="Shape 16"/>
          <p:cNvSpPr/>
          <p:nvPr/>
        </p:nvSpPr>
        <p:spPr>
          <a:xfrm>
            <a:off x="3336382" y="2343150"/>
            <a:ext cx="1192755" cy="32146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336382" y="2343150"/>
            <a:ext cx="1192755" cy="321469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我是谁</a:t>
            </a:r>
            <a:endParaRPr lang="en-US" sz="784" dirty="0"/>
          </a:p>
        </p:txBody>
      </p:sp>
      <p:sp>
        <p:nvSpPr>
          <p:cNvPr id="25" name="Shape 18"/>
          <p:cNvSpPr/>
          <p:nvPr/>
        </p:nvSpPr>
        <p:spPr>
          <a:xfrm>
            <a:off x="4600575" y="2343150"/>
            <a:ext cx="1192755" cy="32146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600575" y="2343150"/>
            <a:ext cx="1192755" cy="321469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我会什么</a:t>
            </a:r>
            <a:endParaRPr lang="en-US" sz="784" dirty="0"/>
          </a:p>
        </p:txBody>
      </p:sp>
      <p:sp>
        <p:nvSpPr>
          <p:cNvPr id="27" name="Shape 20"/>
          <p:cNvSpPr/>
          <p:nvPr/>
        </p:nvSpPr>
        <p:spPr>
          <a:xfrm>
            <a:off x="3336382" y="2736056"/>
            <a:ext cx="1192755" cy="32146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336382" y="2736056"/>
            <a:ext cx="1192755" cy="321469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我说过什么</a:t>
            </a:r>
            <a:endParaRPr lang="en-US" sz="784" dirty="0"/>
          </a:p>
        </p:txBody>
      </p:sp>
      <p:sp>
        <p:nvSpPr>
          <p:cNvPr id="29" name="Shape 22"/>
          <p:cNvSpPr/>
          <p:nvPr/>
        </p:nvSpPr>
        <p:spPr>
          <a:xfrm>
            <a:off x="4600575" y="2736056"/>
            <a:ext cx="1192755" cy="32146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600575" y="2736056"/>
            <a:ext cx="1192755" cy="321469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我卖什么</a:t>
            </a:r>
            <a:endParaRPr lang="en-US" sz="784" dirty="0"/>
          </a:p>
        </p:txBody>
      </p:sp>
      <p:sp>
        <p:nvSpPr>
          <p:cNvPr id="31" name="Shape 24"/>
          <p:cNvSpPr/>
          <p:nvPr/>
        </p:nvSpPr>
        <p:spPr>
          <a:xfrm>
            <a:off x="3336382" y="3128963"/>
            <a:ext cx="1192755" cy="32146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336382" y="3128963"/>
            <a:ext cx="1192755" cy="321469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我面对谁</a:t>
            </a:r>
            <a:endParaRPr lang="en-US" sz="784" dirty="0"/>
          </a:p>
        </p:txBody>
      </p:sp>
      <p:sp>
        <p:nvSpPr>
          <p:cNvPr id="33" name="Shape 26"/>
          <p:cNvSpPr/>
          <p:nvPr/>
        </p:nvSpPr>
        <p:spPr>
          <a:xfrm>
            <a:off x="4600575" y="3128963"/>
            <a:ext cx="1192755" cy="32146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600575" y="3128963"/>
            <a:ext cx="1192755" cy="321469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我怎么想</a:t>
            </a:r>
            <a:endParaRPr lang="en-US" sz="784" dirty="0"/>
          </a:p>
        </p:txBody>
      </p:sp>
      <p:sp>
        <p:nvSpPr>
          <p:cNvPr id="35" name="Shape 28"/>
          <p:cNvSpPr/>
          <p:nvPr/>
        </p:nvSpPr>
        <p:spPr>
          <a:xfrm>
            <a:off x="3336382" y="3593306"/>
            <a:ext cx="2456948" cy="32146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6580" y="3711178"/>
            <a:ext cx="142875" cy="1143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209455" y="3691533"/>
            <a:ext cx="85367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精准调用资产</a:t>
            </a:r>
            <a:endParaRPr lang="en-US" sz="784" dirty="0"/>
          </a:p>
        </p:txBody>
      </p:sp>
      <p:sp>
        <p:nvSpPr>
          <p:cNvPr id="38" name="Text 30"/>
          <p:cNvSpPr/>
          <p:nvPr/>
        </p:nvSpPr>
        <p:spPr>
          <a:xfrm>
            <a:off x="6114799" y="2875359"/>
            <a:ext cx="44827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组装/创作</a:t>
            </a:r>
            <a:endParaRPr lang="en-US" sz="683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497" y="3103959"/>
            <a:ext cx="142875" cy="228600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6705944" y="1446609"/>
            <a:ext cx="2009431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894723" y="1660922"/>
            <a:ext cx="1642030" cy="185738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42" name="Text 33"/>
          <p:cNvSpPr/>
          <p:nvPr/>
        </p:nvSpPr>
        <p:spPr>
          <a:xfrm>
            <a:off x="6894723" y="1660922"/>
            <a:ext cx="1642030" cy="185738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内容创作场景</a:t>
            </a:r>
            <a:endParaRPr lang="en-US" sz="683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4723" y="2121694"/>
            <a:ext cx="157163" cy="157163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123323" y="1953816"/>
            <a:ext cx="1413430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【创作区】输出工厂</a:t>
            </a:r>
            <a:endParaRPr lang="en-US" sz="1090" dirty="0"/>
          </a:p>
        </p:txBody>
      </p:sp>
      <p:sp>
        <p:nvSpPr>
          <p:cNvPr id="45" name="Shape 35"/>
          <p:cNvSpPr/>
          <p:nvPr/>
        </p:nvSpPr>
        <p:spPr>
          <a:xfrm>
            <a:off x="6894723" y="2589609"/>
            <a:ext cx="1642030" cy="32146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6894723" y="2589609"/>
            <a:ext cx="1642030" cy="321469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创作中草稿</a:t>
            </a:r>
            <a:endParaRPr lang="en-US" sz="784" dirty="0"/>
          </a:p>
        </p:txBody>
      </p:sp>
      <p:sp>
        <p:nvSpPr>
          <p:cNvPr id="47" name="Shape 37"/>
          <p:cNvSpPr/>
          <p:nvPr/>
        </p:nvSpPr>
        <p:spPr>
          <a:xfrm>
            <a:off x="6894723" y="3125391"/>
            <a:ext cx="1642030" cy="453628"/>
          </a:xfrm>
          <a:prstGeom prst="rect">
            <a:avLst/>
          </a:prstGeom>
          <a:solidFill>
            <a:srgbClr val="ECFDF5"/>
          </a:solidFill>
          <a:ln w="9144">
            <a:solidFill>
              <a:srgbClr val="A7F3D0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1880" y="3243263"/>
            <a:ext cx="114300" cy="11430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116180" y="3223617"/>
            <a:ext cx="119479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多端分发 (公众号/小红</a:t>
            </a:r>
            <a:endParaRPr lang="en-US" sz="834" dirty="0"/>
          </a:p>
        </p:txBody>
      </p:sp>
      <p:sp>
        <p:nvSpPr>
          <p:cNvPr id="50" name="Text 39"/>
          <p:cNvSpPr/>
          <p:nvPr/>
        </p:nvSpPr>
        <p:spPr>
          <a:xfrm>
            <a:off x="7001880" y="3400425"/>
            <a:ext cx="16787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书)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为什么要设计「脏区」Inbox？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892969"/>
            <a:ext cx="871537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避免系统堵塞，让输入变得毫无压力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518047"/>
            <a:ext cx="2619384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7781" y="1803797"/>
            <a:ext cx="571500" cy="57150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44" y="1960959"/>
            <a:ext cx="257175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2589609"/>
            <a:ext cx="218121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降低输入门槛</a:t>
            </a:r>
            <a:endParaRPr lang="en-US" sz="1295" dirty="0"/>
          </a:p>
        </p:txBody>
      </p:sp>
      <p:sp>
        <p:nvSpPr>
          <p:cNvPr id="9" name="Text 5"/>
          <p:cNvSpPr/>
          <p:nvPr/>
        </p:nvSpPr>
        <p:spPr>
          <a:xfrm>
            <a:off x="642938" y="3021806"/>
            <a:ext cx="218121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看到好灵感一键剪藏，不纠结分类，不打断心流。先存再说，输入时不整理。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252778" y="1518047"/>
            <a:ext cx="2624128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79106" y="1803797"/>
            <a:ext cx="571500" cy="57150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269" y="1960959"/>
            <a:ext cx="257175" cy="2571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1863" y="2589609"/>
            <a:ext cx="218598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批量处理更高效</a:t>
            </a:r>
            <a:endParaRPr lang="en-US" sz="1295" dirty="0"/>
          </a:p>
        </p:txBody>
      </p:sp>
      <p:sp>
        <p:nvSpPr>
          <p:cNvPr id="14" name="Text 9"/>
          <p:cNvSpPr/>
          <p:nvPr/>
        </p:nvSpPr>
        <p:spPr>
          <a:xfrm>
            <a:off x="3471863" y="3021806"/>
            <a:ext cx="21859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每周固定时间清仓。集中整理比碎片化分类效率提升 3 倍以上，保持生产线整洁。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6086475" y="1518047"/>
            <a:ext cx="2628900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119947" y="1803797"/>
            <a:ext cx="571500" cy="57150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962" y="1960959"/>
            <a:ext cx="321469" cy="2571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10331" y="2589609"/>
            <a:ext cx="2190759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原料仓库原则</a:t>
            </a:r>
            <a:endParaRPr lang="en-US" sz="1295" dirty="0"/>
          </a:p>
        </p:txBody>
      </p:sp>
      <p:sp>
        <p:nvSpPr>
          <p:cNvPr id="19" name="Text 13"/>
          <p:cNvSpPr/>
          <p:nvPr/>
        </p:nvSpPr>
        <p:spPr>
          <a:xfrm>
            <a:off x="6310331" y="3021806"/>
            <a:ext cx="219075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确保原材料不直接堆在生产线上。Inbox 是缓冲层，只有经过加工的才进入“六间房”。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428625" y="4678263"/>
            <a:ext cx="671513" cy="212527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21" name="Text 15"/>
          <p:cNvSpPr/>
          <p:nvPr/>
        </p:nvSpPr>
        <p:spPr>
          <a:xfrm>
            <a:off x="428625" y="4678263"/>
            <a:ext cx="671513" cy="212527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核心原则</a:t>
            </a:r>
            <a:endParaRPr lang="en-US" sz="784" dirty="0"/>
          </a:p>
        </p:txBody>
      </p:sp>
      <p:sp>
        <p:nvSpPr>
          <p:cNvPr id="22" name="Text 16"/>
          <p:cNvSpPr/>
          <p:nvPr/>
        </p:nvSpPr>
        <p:spPr>
          <a:xfrm>
            <a:off x="1207294" y="4661297"/>
            <a:ext cx="220027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输入时不整理，整理时不输入。</a:t>
            </a:r>
            <a:endParaRPr lang="en-US" sz="10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六间房：内容创作的四个维度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892969"/>
            <a:ext cx="871537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将知识资产精准映射到创作实战场景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375172"/>
            <a:ext cx="4071938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2938" y="1553766"/>
            <a:ext cx="321469" cy="321469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64" y="1643063"/>
            <a:ext cx="12501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1563" y="1580555"/>
            <a:ext cx="167699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表达层 (Expression)</a:t>
            </a:r>
            <a:endParaRPr lang="en-US" sz="1193" dirty="0"/>
          </a:p>
        </p:txBody>
      </p:sp>
      <p:sp>
        <p:nvSpPr>
          <p:cNvPr id="9" name="Shape 5"/>
          <p:cNvSpPr/>
          <p:nvPr/>
        </p:nvSpPr>
        <p:spPr>
          <a:xfrm>
            <a:off x="642938" y="1982391"/>
            <a:ext cx="610791" cy="200025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2938" y="1982391"/>
            <a:ext cx="610791" cy="200025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我是谁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1310878" y="1982391"/>
            <a:ext cx="737592" cy="200025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10878" y="1982391"/>
            <a:ext cx="737592" cy="200025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我怎么想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642938" y="2275284"/>
            <a:ext cx="3643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定义你的角色定位与价值观底盘，决定 AI 生成内容的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「人格」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。</a:t>
            </a:r>
            <a:endParaRPr lang="en-US" sz="942" dirty="0"/>
          </a:p>
        </p:txBody>
      </p:sp>
      <p:sp>
        <p:nvSpPr>
          <p:cNvPr id="14" name="Shape 10"/>
          <p:cNvSpPr/>
          <p:nvPr/>
        </p:nvSpPr>
        <p:spPr>
          <a:xfrm>
            <a:off x="4643438" y="1375172"/>
            <a:ext cx="4071938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57750" y="1553766"/>
            <a:ext cx="321469" cy="321469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643063"/>
            <a:ext cx="178594" cy="1428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86375" y="1580555"/>
            <a:ext cx="145375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素材层 (Material)</a:t>
            </a:r>
            <a:endParaRPr lang="en-US" sz="1193" dirty="0"/>
          </a:p>
        </p:txBody>
      </p:sp>
      <p:sp>
        <p:nvSpPr>
          <p:cNvPr id="18" name="Shape 13"/>
          <p:cNvSpPr/>
          <p:nvPr/>
        </p:nvSpPr>
        <p:spPr>
          <a:xfrm>
            <a:off x="4857750" y="1982391"/>
            <a:ext cx="732234" cy="200025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857750" y="1982391"/>
            <a:ext cx="732234" cy="200025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我会什么</a:t>
            </a:r>
            <a:endParaRPr lang="en-US" sz="683" dirty="0"/>
          </a:p>
        </p:txBody>
      </p:sp>
      <p:sp>
        <p:nvSpPr>
          <p:cNvPr id="20" name="Shape 15"/>
          <p:cNvSpPr/>
          <p:nvPr/>
        </p:nvSpPr>
        <p:spPr>
          <a:xfrm>
            <a:off x="5647134" y="1982391"/>
            <a:ext cx="834033" cy="200025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47134" y="1982391"/>
            <a:ext cx="834033" cy="200025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我说过什么</a:t>
            </a:r>
            <a:endParaRPr lang="en-US" sz="683" dirty="0"/>
          </a:p>
        </p:txBody>
      </p:sp>
      <p:sp>
        <p:nvSpPr>
          <p:cNvPr id="22" name="Text 17"/>
          <p:cNvSpPr/>
          <p:nvPr/>
        </p:nvSpPr>
        <p:spPr>
          <a:xfrm>
            <a:off x="4857750" y="2275284"/>
            <a:ext cx="3643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沉淀方法论与历史内容模块，决定 AI 生成内容的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「弹药」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。</a:t>
            </a:r>
            <a:endParaRPr lang="en-US" sz="942" dirty="0"/>
          </a:p>
        </p:txBody>
      </p:sp>
      <p:sp>
        <p:nvSpPr>
          <p:cNvPr id="23" name="Shape 18"/>
          <p:cNvSpPr/>
          <p:nvPr/>
        </p:nvSpPr>
        <p:spPr>
          <a:xfrm>
            <a:off x="428625" y="3089672"/>
            <a:ext cx="4071938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2938" y="3268266"/>
            <a:ext cx="321469" cy="321469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34" y="3357563"/>
            <a:ext cx="142875" cy="1428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71563" y="3295055"/>
            <a:ext cx="1193006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选题层 (Topic)</a:t>
            </a:r>
            <a:endParaRPr lang="en-US" sz="1193" dirty="0"/>
          </a:p>
        </p:txBody>
      </p:sp>
      <p:sp>
        <p:nvSpPr>
          <p:cNvPr id="27" name="Shape 21"/>
          <p:cNvSpPr/>
          <p:nvPr/>
        </p:nvSpPr>
        <p:spPr>
          <a:xfrm>
            <a:off x="642938" y="3696891"/>
            <a:ext cx="737592" cy="200025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42938" y="3696891"/>
            <a:ext cx="737592" cy="200025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我面对谁</a:t>
            </a:r>
            <a:endParaRPr lang="en-US" sz="683" dirty="0"/>
          </a:p>
        </p:txBody>
      </p:sp>
      <p:sp>
        <p:nvSpPr>
          <p:cNvPr id="29" name="Text 23"/>
          <p:cNvSpPr/>
          <p:nvPr/>
        </p:nvSpPr>
        <p:spPr>
          <a:xfrm>
            <a:off x="642938" y="3989784"/>
            <a:ext cx="3643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基于用户洞察与痛点分析，决定 AI 生成内容的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「方向」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。</a:t>
            </a:r>
            <a:endParaRPr lang="en-US" sz="942" dirty="0"/>
          </a:p>
        </p:txBody>
      </p:sp>
      <p:sp>
        <p:nvSpPr>
          <p:cNvPr id="30" name="Shape 24"/>
          <p:cNvSpPr/>
          <p:nvPr/>
        </p:nvSpPr>
        <p:spPr>
          <a:xfrm>
            <a:off x="4643438" y="3089672"/>
            <a:ext cx="4071938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857750" y="3268266"/>
            <a:ext cx="321469" cy="321469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117" y="3357563"/>
            <a:ext cx="160734" cy="14287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86375" y="3295055"/>
            <a:ext cx="172878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转化层 (Conversion)</a:t>
            </a:r>
            <a:endParaRPr lang="en-US" sz="1193" dirty="0"/>
          </a:p>
        </p:txBody>
      </p:sp>
      <p:sp>
        <p:nvSpPr>
          <p:cNvPr id="34" name="Shape 27"/>
          <p:cNvSpPr/>
          <p:nvPr/>
        </p:nvSpPr>
        <p:spPr>
          <a:xfrm>
            <a:off x="4857750" y="3696891"/>
            <a:ext cx="739378" cy="200025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857750" y="3696891"/>
            <a:ext cx="739378" cy="200025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我卖什么</a:t>
            </a:r>
            <a:endParaRPr lang="en-US" sz="683" dirty="0"/>
          </a:p>
        </p:txBody>
      </p:sp>
      <p:sp>
        <p:nvSpPr>
          <p:cNvPr id="36" name="Text 29"/>
          <p:cNvSpPr/>
          <p:nvPr/>
        </p:nvSpPr>
        <p:spPr>
          <a:xfrm>
            <a:off x="4857750" y="3989784"/>
            <a:ext cx="3643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聚焦产品化交付与商业闭环，决定 AI 生成内容的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「终点」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。</a:t>
            </a:r>
            <a:endParaRPr lang="en-US" sz="942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4915793"/>
            <a:ext cx="178594" cy="14287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2944" y="4875609"/>
            <a:ext cx="3429000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核心逻辑：这四个维度共同构成了内容生产的完整闭环</a:t>
            </a:r>
            <a:endParaRPr lang="en-US" sz="98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输出工厂：资料与作品必须分离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892969"/>
            <a:ext cx="871537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物理层面的“数据隔离”是 AI 稳定输出的前提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446609"/>
            <a:ext cx="4000500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2938" y="1660922"/>
            <a:ext cx="357188" cy="357188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06" y="1753791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7281" y="1694855"/>
            <a:ext cx="169128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六间房 (Materials)</a:t>
            </a:r>
            <a:endParaRPr lang="en-US" sz="1295" dirty="0"/>
          </a:p>
        </p:txBody>
      </p:sp>
      <p:sp>
        <p:nvSpPr>
          <p:cNvPr id="9" name="Shape 5"/>
          <p:cNvSpPr/>
          <p:nvPr/>
        </p:nvSpPr>
        <p:spPr>
          <a:xfrm>
            <a:off x="642938" y="2196703"/>
            <a:ext cx="671513" cy="185738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0" name="Text 6"/>
          <p:cNvSpPr/>
          <p:nvPr/>
        </p:nvSpPr>
        <p:spPr>
          <a:xfrm>
            <a:off x="642938" y="2196703"/>
            <a:ext cx="671513" cy="185738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已确认资产</a:t>
            </a:r>
            <a:endParaRPr lang="en-US" sz="683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489597"/>
            <a:ext cx="100013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8675" y="2453878"/>
            <a:ext cx="1671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经过筛选、加工、认可的知识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789634"/>
            <a:ext cx="100013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8675" y="2753916"/>
            <a:ext cx="1414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确定性的方法论与价值观</a:t>
            </a:r>
            <a:endParaRPr lang="en-US" sz="942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089672"/>
            <a:ext cx="100013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8675" y="3053953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已经验证过的优质内容模块</a:t>
            </a:r>
            <a:endParaRPr lang="en-US" sz="942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389709"/>
            <a:ext cx="100013" cy="10001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8675" y="3353991"/>
            <a:ext cx="12787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创作的“标准参考库”</a:t>
            </a:r>
            <a:endParaRPr lang="en-US" sz="942" dirty="0"/>
          </a:p>
        </p:txBody>
      </p:sp>
      <p:sp>
        <p:nvSpPr>
          <p:cNvPr id="19" name="Shape 11"/>
          <p:cNvSpPr/>
          <p:nvPr/>
        </p:nvSpPr>
        <p:spPr>
          <a:xfrm>
            <a:off x="4707731" y="1446609"/>
            <a:ext cx="4007644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4929188" y="1660922"/>
            <a:ext cx="357188" cy="357188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2056" y="1753791"/>
            <a:ext cx="171450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93531" y="1694855"/>
            <a:ext cx="155555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输出工厂 (Crafts)</a:t>
            </a:r>
            <a:endParaRPr lang="en-US" sz="1295" dirty="0"/>
          </a:p>
        </p:txBody>
      </p:sp>
      <p:sp>
        <p:nvSpPr>
          <p:cNvPr id="23" name="Shape 14"/>
          <p:cNvSpPr/>
          <p:nvPr/>
        </p:nvSpPr>
        <p:spPr>
          <a:xfrm>
            <a:off x="4929188" y="2196703"/>
            <a:ext cx="671513" cy="185738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24" name="Text 15"/>
          <p:cNvSpPr/>
          <p:nvPr/>
        </p:nvSpPr>
        <p:spPr>
          <a:xfrm>
            <a:off x="4929188" y="2196703"/>
            <a:ext cx="671513" cy="185738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创作中草稿</a:t>
            </a:r>
            <a:endParaRPr lang="en-US" sz="683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489597"/>
            <a:ext cx="100013" cy="10001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14925" y="2453878"/>
            <a:ext cx="1414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正在打磨中的半成品草稿</a:t>
            </a:r>
            <a:endParaRPr lang="en-US" sz="942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2789634"/>
            <a:ext cx="100013" cy="10001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114925" y="2753916"/>
            <a:ext cx="11572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尚未定稿的灵感碎片</a:t>
            </a:r>
            <a:endParaRPr lang="en-US" sz="942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3089672"/>
            <a:ext cx="100013" cy="100013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114925" y="3053953"/>
            <a:ext cx="1671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包含不成熟想法的实验性内容</a:t>
            </a:r>
            <a:endParaRPr lang="en-US" sz="942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9188" y="3389709"/>
            <a:ext cx="100013" cy="100013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114925" y="3353991"/>
            <a:ext cx="1414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临时的多端分发改写版本</a:t>
            </a:r>
            <a:endParaRPr lang="en-US" sz="942" dirty="0"/>
          </a:p>
        </p:txBody>
      </p:sp>
      <p:sp>
        <p:nvSpPr>
          <p:cNvPr id="33" name="Shape 20"/>
          <p:cNvSpPr/>
          <p:nvPr/>
        </p:nvSpPr>
        <p:spPr>
          <a:xfrm>
            <a:off x="428625" y="4375547"/>
            <a:ext cx="8286750" cy="714375"/>
          </a:xfrm>
          <a:prstGeom prst="rect">
            <a:avLst/>
          </a:prstGeom>
          <a:solidFill>
            <a:srgbClr val="FEF2F2"/>
          </a:solidFill>
          <a:ln w="9144">
            <a:solidFill>
              <a:srgbClr val="FEE2E2"/>
            </a:solidFill>
            <a:prstDash val="solid"/>
          </a:ln>
        </p:spPr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8" y="4682728"/>
            <a:ext cx="228600" cy="22860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1014413" y="4703266"/>
            <a:ext cx="734556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9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避坑指南：如果不进行物理分离，AI 在检索时会把“半成品草稿”当成“标准资产”调用，导致生成内容质量不稳定、逻辑自相矛盾。</a:t>
            </a:r>
            <a:endParaRPr lang="en-US" sz="8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场景化实操：AI 协作矩阵 (1)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892969"/>
            <a:ext cx="871537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从素材到策划，AI 在创作前期的精准赋能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446609"/>
            <a:ext cx="4054078" cy="3000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7219" y="1696641"/>
            <a:ext cx="1096566" cy="185738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7" name="Text 4"/>
          <p:cNvSpPr/>
          <p:nvPr/>
        </p:nvSpPr>
        <p:spPr>
          <a:xfrm>
            <a:off x="607219" y="1696641"/>
            <a:ext cx="1096566" cy="185738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角色：图书管理员</a:t>
            </a:r>
            <a:endParaRPr lang="en-US" sz="683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2077045"/>
            <a:ext cx="185738" cy="1857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8681" y="2025253"/>
            <a:ext cx="7429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素材输入</a:t>
            </a:r>
            <a:endParaRPr lang="en-US" sz="129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2457450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8669" y="2421731"/>
            <a:ext cx="133588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自动提取核心观点与金句</a:t>
            </a:r>
            <a:endParaRPr lang="en-US" sz="888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746772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8669" y="2711053"/>
            <a:ext cx="133588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智能建议归档房间与标签</a:t>
            </a:r>
            <a:endParaRPr lang="en-US" sz="888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3036094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8669" y="3000375"/>
            <a:ext cx="15787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撰写内容摘要，方便日后检索</a:t>
            </a:r>
            <a:endParaRPr lang="en-US" sz="888" dirty="0"/>
          </a:p>
        </p:txBody>
      </p:sp>
      <p:sp>
        <p:nvSpPr>
          <p:cNvPr id="16" name="Shape 9"/>
          <p:cNvSpPr/>
          <p:nvPr/>
        </p:nvSpPr>
        <p:spPr>
          <a:xfrm>
            <a:off x="607219" y="4125516"/>
            <a:ext cx="3689747" cy="32146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07219" y="4125516"/>
            <a:ext cx="3689747" cy="321469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调用：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 Inbox → 自动识别推荐分类</a:t>
            </a:r>
            <a:pPr algn="l" indent="0" marL="0">
              <a:lnSpc>
                <a:spcPts val="900"/>
              </a:lnSpc>
              <a:buNone/>
            </a:pPr>
            <a:endParaRPr lang="en-US" sz="727" dirty="0"/>
          </a:p>
        </p:txBody>
      </p:sp>
      <p:sp>
        <p:nvSpPr>
          <p:cNvPr id="18" name="Shape 11"/>
          <p:cNvSpPr/>
          <p:nvPr/>
        </p:nvSpPr>
        <p:spPr>
          <a:xfrm>
            <a:off x="4654153" y="1446609"/>
            <a:ext cx="4061222" cy="3000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4839891" y="1696641"/>
            <a:ext cx="996553" cy="185738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20" name="Text 13"/>
          <p:cNvSpPr/>
          <p:nvPr/>
        </p:nvSpPr>
        <p:spPr>
          <a:xfrm>
            <a:off x="4839891" y="1696641"/>
            <a:ext cx="996553" cy="185738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角色：策划编辑</a:t>
            </a:r>
            <a:endParaRPr lang="en-US" sz="683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891" y="2077045"/>
            <a:ext cx="139303" cy="18573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64919" y="2025253"/>
            <a:ext cx="7429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选题策划</a:t>
            </a:r>
            <a:endParaRPr lang="en-US" sz="1295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9891" y="2457450"/>
            <a:ext cx="100013" cy="10001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011341" y="2421731"/>
            <a:ext cx="15787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基于母题清单生成差异化选题</a:t>
            </a:r>
            <a:endParaRPr lang="en-US" sz="888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9891" y="2746772"/>
            <a:ext cx="100013" cy="10001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011341" y="2711053"/>
            <a:ext cx="14573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结合用户痛点匹配最佳素材</a:t>
            </a:r>
            <a:endParaRPr lang="en-US" sz="888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9891" y="3036094"/>
            <a:ext cx="100013" cy="10001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011341" y="3000375"/>
            <a:ext cx="170021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预测选题的传播潜力与转化路径</a:t>
            </a:r>
            <a:endParaRPr lang="en-US" sz="888" dirty="0"/>
          </a:p>
        </p:txBody>
      </p:sp>
      <p:sp>
        <p:nvSpPr>
          <p:cNvPr id="29" name="Shape 18"/>
          <p:cNvSpPr/>
          <p:nvPr/>
        </p:nvSpPr>
        <p:spPr>
          <a:xfrm>
            <a:off x="4839891" y="4125516"/>
            <a:ext cx="3696891" cy="32146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4839891" y="4125516"/>
            <a:ext cx="3696891" cy="321469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调用：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我面对谁 + 06 我怎么想</a:t>
            </a:r>
            <a:pPr algn="l" indent="0" marL="0">
              <a:lnSpc>
                <a:spcPts val="900"/>
              </a:lnSpc>
              <a:buNone/>
            </a:pP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场景化实操：AI 协作矩阵 (2)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892969"/>
            <a:ext cx="871537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从初稿生成到多端分发的全流程提效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446609"/>
            <a:ext cx="4054078" cy="3000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7219" y="1696641"/>
            <a:ext cx="696516" cy="185738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7" name="Text 4"/>
          <p:cNvSpPr/>
          <p:nvPr/>
        </p:nvSpPr>
        <p:spPr>
          <a:xfrm>
            <a:off x="607219" y="1696641"/>
            <a:ext cx="696516" cy="185738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写作助理</a:t>
            </a:r>
            <a:endParaRPr lang="en-US" sz="683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2041327"/>
            <a:ext cx="185738" cy="1857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8681" y="1989534"/>
            <a:ext cx="7429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初稿生成</a:t>
            </a:r>
            <a:endParaRPr lang="en-US" sz="129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2457450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8669" y="2421731"/>
            <a:ext cx="164663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组装已有模块，生成 60% 初稿</a:t>
            </a:r>
            <a:endParaRPr lang="en-US" sz="888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746772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8669" y="2711053"/>
            <a:ext cx="14573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自动填充案例、金句与数据</a:t>
            </a:r>
            <a:endParaRPr lang="en-US" sz="888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3036094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8669" y="3000375"/>
            <a:ext cx="14287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解决“面对空白文档”的焦虑</a:t>
            </a:r>
            <a:endParaRPr lang="en-US" sz="888" dirty="0"/>
          </a:p>
        </p:txBody>
      </p:sp>
      <p:sp>
        <p:nvSpPr>
          <p:cNvPr id="16" name="Shape 9"/>
          <p:cNvSpPr/>
          <p:nvPr/>
        </p:nvSpPr>
        <p:spPr>
          <a:xfrm>
            <a:off x="607219" y="3975497"/>
            <a:ext cx="3689747" cy="471488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714375" y="4096941"/>
            <a:ext cx="34754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调用知识库：</a:t>
            </a:r>
            <a:endParaRPr lang="en-US" sz="683" dirty="0"/>
          </a:p>
        </p:txBody>
      </p:sp>
      <p:sp>
        <p:nvSpPr>
          <p:cNvPr id="18" name="Text 11"/>
          <p:cNvSpPr/>
          <p:nvPr/>
        </p:nvSpPr>
        <p:spPr>
          <a:xfrm>
            <a:off x="714375" y="4300538"/>
            <a:ext cx="120908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01/02/03/05/06 联合调用</a:t>
            </a:r>
            <a:endParaRPr lang="en-US" sz="727" dirty="0"/>
          </a:p>
        </p:txBody>
      </p:sp>
      <p:sp>
        <p:nvSpPr>
          <p:cNvPr id="19" name="Shape 12"/>
          <p:cNvSpPr/>
          <p:nvPr/>
        </p:nvSpPr>
        <p:spPr>
          <a:xfrm>
            <a:off x="4654153" y="1446609"/>
            <a:ext cx="4061222" cy="3000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839891" y="1696641"/>
            <a:ext cx="696516" cy="185738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21" name="Text 14"/>
          <p:cNvSpPr/>
          <p:nvPr/>
        </p:nvSpPr>
        <p:spPr>
          <a:xfrm>
            <a:off x="4839891" y="1696641"/>
            <a:ext cx="696516" cy="185738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运营专家</a:t>
            </a:r>
            <a:endParaRPr lang="en-US" sz="683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891" y="2041327"/>
            <a:ext cx="162520" cy="18573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88136" y="1989534"/>
            <a:ext cx="7429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多端分发</a:t>
            </a:r>
            <a:endParaRPr lang="en-US" sz="1295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9891" y="2457450"/>
            <a:ext cx="100013" cy="10001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11341" y="2421731"/>
            <a:ext cx="15787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基于核心素材改写多平台版本</a:t>
            </a:r>
            <a:endParaRPr lang="en-US" sz="888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9891" y="2746772"/>
            <a:ext cx="100013" cy="10001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11341" y="2711053"/>
            <a:ext cx="15144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自动生成小红书/朋友圈文案</a:t>
            </a:r>
            <a:endParaRPr lang="en-US" sz="888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9891" y="3036094"/>
            <a:ext cx="100013" cy="10001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011341" y="3000375"/>
            <a:ext cx="133588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提取视频脚本或直播大纲</a:t>
            </a:r>
            <a:endParaRPr lang="en-US" sz="888" dirty="0"/>
          </a:p>
        </p:txBody>
      </p:sp>
      <p:sp>
        <p:nvSpPr>
          <p:cNvPr id="30" name="Shape 19"/>
          <p:cNvSpPr/>
          <p:nvPr/>
        </p:nvSpPr>
        <p:spPr>
          <a:xfrm>
            <a:off x="4839891" y="3975497"/>
            <a:ext cx="3696891" cy="471488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4947047" y="4096941"/>
            <a:ext cx="348257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调用知识库：</a:t>
            </a:r>
            <a:endParaRPr lang="en-US" sz="683" dirty="0"/>
          </a:p>
        </p:txBody>
      </p:sp>
      <p:sp>
        <p:nvSpPr>
          <p:cNvPr id="32" name="Text 21"/>
          <p:cNvSpPr/>
          <p:nvPr/>
        </p:nvSpPr>
        <p:spPr>
          <a:xfrm>
            <a:off x="4947047" y="4300538"/>
            <a:ext cx="1164431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我说过什么 (模块拆解)</a:t>
            </a:r>
            <a:endParaRPr lang="en-US" sz="727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625" y="4772918"/>
            <a:ext cx="107156" cy="14287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21506" y="4732734"/>
            <a:ext cx="446305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核心洞察：AI 不是替代你写作，而是在每个场景中充当不同的专业角色</a:t>
            </a:r>
            <a:endParaRPr lang="en-US" sz="98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实操演示：知识库上传与 AI 理解测试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892969"/>
            <a:ext cx="871537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三步跑通 AI 协作，确保系统“读懂”你的资产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446609"/>
            <a:ext cx="2619384" cy="22860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90656" y="1660922"/>
            <a:ext cx="285750" cy="28575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1590656" y="1660922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84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938" y="2153841"/>
            <a:ext cx="357188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7219" y="2661047"/>
            <a:ext cx="225265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资产上传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607219" y="3014663"/>
            <a:ext cx="225265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将“六间房”中的结构化资产（.md/.txt/PDF）上传至 AI 知识库，作为创作的“弹药库”。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3252778" y="1446609"/>
            <a:ext cx="2624128" cy="22860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21981" y="1660922"/>
            <a:ext cx="285750" cy="28575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9"/>
          <p:cNvSpPr/>
          <p:nvPr/>
        </p:nvSpPr>
        <p:spPr>
          <a:xfrm>
            <a:off x="4421981" y="1660922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784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981" y="2153841"/>
            <a:ext cx="285750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36144" y="2661047"/>
            <a:ext cx="225742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理解测试</a:t>
            </a:r>
            <a:endParaRPr lang="en-US" sz="1090" dirty="0"/>
          </a:p>
        </p:txBody>
      </p:sp>
      <p:sp>
        <p:nvSpPr>
          <p:cNvPr id="16" name="Text 11"/>
          <p:cNvSpPr/>
          <p:nvPr/>
        </p:nvSpPr>
        <p:spPr>
          <a:xfrm>
            <a:off x="3436144" y="3014663"/>
            <a:ext cx="22574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向 AI 提问，验证 AI 是否精准掌握。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6086475" y="1446609"/>
            <a:ext cx="2628900" cy="22860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262822" y="1660922"/>
            <a:ext cx="285750" cy="28575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4"/>
          <p:cNvSpPr/>
          <p:nvPr/>
        </p:nvSpPr>
        <p:spPr>
          <a:xfrm>
            <a:off x="7262822" y="1660922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784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822" y="2153841"/>
            <a:ext cx="285750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74612" y="2661047"/>
            <a:ext cx="226219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场景调用</a:t>
            </a:r>
            <a:endParaRPr lang="en-US" sz="1090" dirty="0"/>
          </a:p>
        </p:txBody>
      </p:sp>
      <p:sp>
        <p:nvSpPr>
          <p:cNvPr id="22" name="Text 16"/>
          <p:cNvSpPr/>
          <p:nvPr/>
        </p:nvSpPr>
        <p:spPr>
          <a:xfrm>
            <a:off x="6274612" y="3014663"/>
            <a:ext cx="2262197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通过 Prompt 指令：“基于 03 房间的案例 + 05 房间的痛点，写一篇公众号文章”。</a:t>
            </a:r>
            <a:endParaRPr lang="en-US" sz="834" dirty="0"/>
          </a:p>
        </p:txBody>
      </p:sp>
      <p:sp>
        <p:nvSpPr>
          <p:cNvPr id="23" name="Shape 17"/>
          <p:cNvSpPr/>
          <p:nvPr/>
        </p:nvSpPr>
        <p:spPr>
          <a:xfrm>
            <a:off x="428625" y="4018359"/>
            <a:ext cx="8286750" cy="934045"/>
          </a:xfrm>
          <a:prstGeom prst="rect">
            <a:avLst/>
          </a:prstGeom>
          <a:solidFill>
            <a:srgbClr val="ECFDF5"/>
          </a:solidFill>
          <a:ln w="9144">
            <a:solidFill>
              <a:srgbClr val="A7F3D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4387155"/>
            <a:ext cx="257175" cy="3429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1185863" y="4196953"/>
            <a:ext cx="771525" cy="185738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26" name="Text 19"/>
          <p:cNvSpPr/>
          <p:nvPr/>
        </p:nvSpPr>
        <p:spPr>
          <a:xfrm>
            <a:off x="1185863" y="4196953"/>
            <a:ext cx="771525" cy="185738"/>
          </a:xfrm>
          <a:prstGeom prst="rect">
            <a:avLst/>
          </a:prstGeom>
          <a:noFill/>
          <a:ln/>
        </p:spPr>
        <p:txBody>
          <a:bodyPr wrap="square" lIns="102108" tIns="34036" rIns="1021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直播验收标准</a:t>
            </a:r>
            <a:endParaRPr lang="en-US" sz="683" dirty="0"/>
          </a:p>
        </p:txBody>
      </p:sp>
      <p:sp>
        <p:nvSpPr>
          <p:cNvPr id="27" name="Text 20"/>
          <p:cNvSpPr/>
          <p:nvPr/>
        </p:nvSpPr>
        <p:spPr>
          <a:xfrm>
            <a:off x="1185863" y="4454128"/>
            <a:ext cx="465415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65F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提交结营「作业包」</a:t>
            </a:r>
            <a:endParaRPr lang="en-US" sz="1090" dirty="0"/>
          </a:p>
        </p:txBody>
      </p:sp>
      <p:sp>
        <p:nvSpPr>
          <p:cNvPr id="28" name="Text 21"/>
          <p:cNvSpPr/>
          <p:nvPr/>
        </p:nvSpPr>
        <p:spPr>
          <a:xfrm>
            <a:off x="1185863" y="4736306"/>
            <a:ext cx="465415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478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直播结束前，请在社群截图打卡：AI 能够准确复述你知识库核心逻辑的对话界面。</a:t>
            </a:r>
            <a:endParaRPr lang="en-US" sz="94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81510" y="428625"/>
            <a:ext cx="498098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让 AI 成为你的终身创作伙伴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2081510" y="1159073"/>
            <a:ext cx="498098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系统胜过努力，流程胜过灵感</a:t>
            </a:r>
            <a:endParaRPr lang="en-US" sz="1397" dirty="0"/>
          </a:p>
        </p:txBody>
      </p:sp>
      <p:sp>
        <p:nvSpPr>
          <p:cNvPr id="5" name="Shape 2"/>
          <p:cNvSpPr/>
          <p:nvPr/>
        </p:nvSpPr>
        <p:spPr>
          <a:xfrm>
            <a:off x="428625" y="1685925"/>
            <a:ext cx="2666991" cy="1785156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07331" y="1857375"/>
            <a:ext cx="500063" cy="500063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206" y="2000250"/>
            <a:ext cx="214313" cy="214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2486025"/>
            <a:ext cx="237172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核心总结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2839641"/>
            <a:ext cx="23717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内容创作不再是“写作文”，而是“开工厂”。通过四层结构与六间房，实现知识资产的自动化流转。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228975" y="1685925"/>
            <a:ext cx="2671763" cy="1785156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14825" y="1857375"/>
            <a:ext cx="500063" cy="500063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095" y="2000250"/>
            <a:ext cx="187523" cy="2143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76622" y="2486025"/>
            <a:ext cx="237649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行动建议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3376622" y="2839641"/>
            <a:ext cx="237649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从今天起，搭建你的 Inbox 和六间房。输入时不整理，整理时不输入，保持生产线的持续运转。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6038869" y="1685925"/>
            <a:ext cx="2676534" cy="1785156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131807" y="1857375"/>
            <a:ext cx="500063" cy="500063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682" y="2000250"/>
            <a:ext cx="214313" cy="2143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91231" y="2486025"/>
            <a:ext cx="238124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未来愿景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6191231" y="283964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不再害怕没内容写，让每一份思考都成为可复用的资产。AI 将精准调用你的灵魂，辅助你持续产出。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3011984" y="3599669"/>
            <a:ext cx="3120033" cy="571500"/>
          </a:xfrm>
          <a:prstGeom prst="roundRect">
            <a:avLst/>
          </a:prstGeom>
          <a:solidFill>
            <a:srgbClr val="8B5CF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9171" y="3888991"/>
            <a:ext cx="200025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76352" y="3858630"/>
            <a:ext cx="209847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开启你的 AI 驱动内容工厂</a:t>
            </a:r>
            <a:endParaRPr lang="en-US" sz="1193" dirty="0"/>
          </a:p>
        </p:txBody>
      </p:sp>
      <p:sp>
        <p:nvSpPr>
          <p:cNvPr id="23" name="Text 16"/>
          <p:cNvSpPr/>
          <p:nvPr/>
        </p:nvSpPr>
        <p:spPr>
          <a:xfrm>
            <a:off x="3478113" y="4242606"/>
            <a:ext cx="218777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感谢您的参与 | AI 内容场景工作流直播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2026-03-05T13:57:01Z</dcterms:created>
  <dcterms:modified xsi:type="dcterms:W3CDTF">2026-03-05T13:57:01Z</dcterms:modified>
</cp:coreProperties>
</file>